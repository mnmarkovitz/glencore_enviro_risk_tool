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30 sec] Welcome. We're presenting an environmental risk identification tool we built for the Glencore Responsible Sourcing team. Our framing is the geopolitics of the energy transition — the minerals we need for batteries and grids are concentrated in jurisdictions where environmental due diligence is hardest. We'll walk through the scope, the geopolitical context, the tool itself, a case study, and how it fits Glencore's existing workflow.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1 min] Glencore — a global producer, processor, and marketer of transition-enabling metals and minerals — partnered with NYU's Center for Global Affairs to address a specific challenge: their existing due-diligence framework is human-rights-focused, but emerging EU regulation (CSRD, CSDDD, the Battery Regulation, the Consolidated Mining Standard) demands integrated environmental risk assessment. The operational constraint is acute: Glencore screens over 200,000 goods and services suppliers and 1,000+ metals and minerals suppliers with a very small team that cannot be subject-matter experts across every risk type. So scalability and a risk-based approach are essential. We anchored our work in the OECD Environmental DD Handbook, the RMI Plus Module, the UNDP Practical Tool for Business, and Glencore's own saliency framework. The deliverables are the guideline document, the end-to-end workflow, and what we'll show you today: a working tool prototype that operationalizes Tier 1. I'll now hand to [Speaker 2] for the geopolitical framing.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1 min 30] The energy transition isn't just a story about renewable electricity — it's a mineral story. The IEA forecasts 4 to 6 times demand growth for cobalt, nickel, copper, and rare earths by 2040 under a net-zero scenario. But supply is highly concentrated: 74 percent of cobalt comes from the DRC, almost half of nickel from Indonesia, 72 percent of platinum from South Africa. And here's the critical geopolitical insight — the US 2022 Critical Minerals List, the EU's Critical Raw Materials Act, and the Inflation Reduction Act are all responding to the same problem: every Western government is now treating supply-chain concentration as a national-security risk. For an operator like Glencore, that's not a thought experiment — it's where they actually buy and sell every 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1 min 30] If we map Glencore's CAHRA list against the US 2022 Critical Minerals List, the overlap is striking. Cobalt — 74 percent DRC, all of which is CAHRA-flagged. Nickel — 48 percent Indonesia, all CAHRA. Platinum — 72 percent South Africa. Aluminum smelting — 59 percent China, with Xinjiang flagged. The point isn't that any specific country is bad; it's that the geographic concentration of energy-transition minerals systematically pushes Western buyers into jurisdictions where environmental governance is weak or contested. That's the operational gap our tool addresses. Now I'll hand to [Speaker 1] for the tool itself.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1 min] This is the tool. An analyst opens it, picks a commodity in the sidebar — let's say cobalt — and the country dropdown automatically prioritizes the top producers from the USGS Mineral Commodity Summaries. They pick a process — mining, refining, smelting, recycling, or marketing — and they get back a ranked table of every environmental risk that applies, plus a 5-by-5 Likelihood-by-Severity heatmap. Click any row and you see the raw indicator value with its source URL, so an audit can trace every number back to its public data 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1 min] Two formulas. Likelihood is 40 percent process intensity — does the process even cause this risk — and 60 percent country hazard, drawn from a specific public dataset for each risk: Aqueduct for water, IUCN for species, GFW for deforestation, SoilGrids for soil, and so on. Severity is half ecological sensitivity, half regulatory strictness — because the tool measures penalty exposure, not pure ecological damage. Overall is L times S, bucketed into Low, Moderate, High, and Critical. Importantly, every single weight is in an editable CSV — Glencore can change the balance whenever they want without touching code. I'll hand to [Speaker 2] for the case study.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2 min — geopolitics deep dive] DRC × cobalt × mining is the single best case study to show why this tool matters in the geopolitics of the energy transition. Three layers stack here. First, energy-transition concentration: every electric vehicle battery cathode chemistry except LFP relies on cobalt, and the IEA forecasts 6× demand growth by 2040. Second, geographic concentration: 74 percent of mine production is in the DRC, and 70 percent of refining is in China — so a Western buyer is dependent on a single high-risk source country plus a single processing chokepoint that is itself subject to escalating U.S.–China trade restrictions. Third, regulatory pressure: the EU Battery Regulation that came into force in 2023 and the U.S. Inflation Reduction Act both treat cobalt traceability and environmental due diligence as gating items for market access. So this isn't optional — Glencore needs auditable Tier-1 evidence per supplier. The tool surfaces three Critical risks for any DRC cobalt mine: tailings, soil pollution — because DRC's tropical Oxisols mobilize heavy metals fast — and biodiversity loss. Every score links back to a public dataset, which is exactly what an EU CSDDD or CSRD audit will demand. That collapses a multi-day OSDR exercise into about ten minutes per supplier — and that's the scalability gap Glencore's small assessment team needs filled.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286000"/>
            <a:ext cx="12191695" cy="2286000"/>
          </a:xfrm>
          <a:prstGeom prst="rect">
            <a:avLst/>
          </a:prstGeom>
          <a:solidFill>
            <a:srgbClr val="00A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468880"/>
            <a:ext cx="11247120" cy="548640"/>
          </a:xfrm>
          <a:prstGeom prst="rect">
            <a:avLst/>
          </a:prstGeom>
          <a:noFill/>
        </p:spPr>
        <p:txBody>
          <a:bodyPr wrap="square" anchor="t" lIns="45720" rIns="45720">
            <a:spAutoFit/>
          </a:bodyPr>
          <a:lstStyle/>
          <a:p>
            <a:pPr algn="l"/>
            <a:r>
              <a:rPr sz="1600" b="1" i="0">
                <a:solidFill>
                  <a:srgbClr val="FFFFFF"/>
                </a:solidFill>
                <a:latin typeface="Calibri"/>
              </a:rPr>
              <a:t>ENVIRONMENTAL RISK IDENTIFICATION &amp; ASSESSMENT TOOL</a:t>
            </a:r>
          </a:p>
        </p:txBody>
      </p:sp>
      <p:sp>
        <p:nvSpPr>
          <p:cNvPr id="5" name="TextBox 4"/>
          <p:cNvSpPr txBox="1"/>
          <p:nvPr/>
        </p:nvSpPr>
        <p:spPr>
          <a:xfrm>
            <a:off x="457200" y="3017520"/>
            <a:ext cx="11247120" cy="1463040"/>
          </a:xfrm>
          <a:prstGeom prst="rect">
            <a:avLst/>
          </a:prstGeom>
          <a:noFill/>
        </p:spPr>
        <p:txBody>
          <a:bodyPr wrap="square" anchor="t" lIns="45720" rIns="45720">
            <a:spAutoFit/>
          </a:bodyPr>
          <a:lstStyle/>
          <a:p>
            <a:pPr algn="l"/>
            <a:r>
              <a:rPr sz="4000" b="1" i="0">
                <a:solidFill>
                  <a:srgbClr val="FFFFFF"/>
                </a:solidFill>
                <a:latin typeface="Calibri"/>
              </a:rPr>
              <a:t>For Glencore's Group Responsible Sourcing team</a:t>
            </a:r>
          </a:p>
        </p:txBody>
      </p:sp>
      <p:sp>
        <p:nvSpPr>
          <p:cNvPr id="6" name="TextBox 5"/>
          <p:cNvSpPr txBox="1"/>
          <p:nvPr/>
        </p:nvSpPr>
        <p:spPr>
          <a:xfrm>
            <a:off x="457200" y="4572000"/>
            <a:ext cx="11247120" cy="457200"/>
          </a:xfrm>
          <a:prstGeom prst="rect">
            <a:avLst/>
          </a:prstGeom>
          <a:noFill/>
        </p:spPr>
        <p:txBody>
          <a:bodyPr wrap="square" anchor="t" lIns="45720" rIns="45720">
            <a:spAutoFit/>
          </a:bodyPr>
          <a:lstStyle/>
          <a:p>
            <a:pPr algn="l"/>
            <a:r>
              <a:rPr sz="1800" b="0" i="1">
                <a:solidFill>
                  <a:srgbClr val="E0F2F1"/>
                </a:solidFill>
                <a:latin typeface="Calibri"/>
              </a:rPr>
              <a:t>A geopolitics-of-energy lens on critical-mineral supply chains</a:t>
            </a:r>
          </a:p>
        </p:txBody>
      </p:sp>
      <p:sp>
        <p:nvSpPr>
          <p:cNvPr id="7" name="TextBox 6"/>
          <p:cNvSpPr txBox="1"/>
          <p:nvPr/>
        </p:nvSpPr>
        <p:spPr>
          <a:xfrm>
            <a:off x="457200" y="5669280"/>
            <a:ext cx="11247120" cy="365760"/>
          </a:xfrm>
          <a:prstGeom prst="rect">
            <a:avLst/>
          </a:prstGeom>
          <a:noFill/>
        </p:spPr>
        <p:txBody>
          <a:bodyPr wrap="square" anchor="t" lIns="45720" rIns="45720">
            <a:spAutoFit/>
          </a:bodyPr>
          <a:lstStyle/>
          <a:p>
            <a:pPr algn="l"/>
            <a:r>
              <a:rPr sz="1400" b="0" i="1">
                <a:solidFill>
                  <a:srgbClr val="E0F2F1"/>
                </a:solidFill>
                <a:latin typeface="Calibri"/>
              </a:rPr>
              <a:t>Glencore × NYU SPS Center for Global Affairs Consulting Practicum</a:t>
            </a:r>
          </a:p>
        </p:txBody>
      </p:sp>
      <p:sp>
        <p:nvSpPr>
          <p:cNvPr id="8" name="TextBox 7"/>
          <p:cNvSpPr txBox="1"/>
          <p:nvPr/>
        </p:nvSpPr>
        <p:spPr>
          <a:xfrm>
            <a:off x="457200" y="6035040"/>
            <a:ext cx="11247120" cy="274320"/>
          </a:xfrm>
          <a:prstGeom prst="rect">
            <a:avLst/>
          </a:prstGeom>
          <a:noFill/>
        </p:spPr>
        <p:txBody>
          <a:bodyPr wrap="square" anchor="t" lIns="45720" rIns="45720">
            <a:spAutoFit/>
          </a:bodyPr>
          <a:lstStyle/>
          <a:p>
            <a:pPr algn="l"/>
            <a:r>
              <a:rPr sz="1100" b="0" i="0">
                <a:solidFill>
                  <a:srgbClr val="E0F2F1"/>
                </a:solidFill>
                <a:latin typeface="Calibri"/>
              </a:rPr>
              <a:t>Spring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00A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548640"/>
          </a:xfrm>
          <a:prstGeom prst="rect">
            <a:avLst/>
          </a:prstGeom>
          <a:noFill/>
        </p:spPr>
        <p:txBody>
          <a:bodyPr wrap="square" anchor="t" lIns="45720" rIns="45720">
            <a:spAutoFit/>
          </a:bodyPr>
          <a:lstStyle/>
          <a:p>
            <a:pPr algn="l"/>
            <a:r>
              <a:rPr sz="2600" b="1" i="0">
                <a:solidFill>
                  <a:srgbClr val="005F73"/>
                </a:solidFill>
                <a:latin typeface="Calibri"/>
              </a:rPr>
              <a:t>Scope of Work</a:t>
            </a:r>
          </a:p>
        </p:txBody>
      </p:sp>
      <p:sp>
        <p:nvSpPr>
          <p:cNvPr id="4" name="TextBox 3"/>
          <p:cNvSpPr txBox="1"/>
          <p:nvPr/>
        </p:nvSpPr>
        <p:spPr>
          <a:xfrm>
            <a:off x="457200" y="777240"/>
            <a:ext cx="11247120" cy="365760"/>
          </a:xfrm>
          <a:prstGeom prst="rect">
            <a:avLst/>
          </a:prstGeom>
          <a:noFill/>
        </p:spPr>
        <p:txBody>
          <a:bodyPr wrap="square" anchor="t" lIns="45720" rIns="45720">
            <a:spAutoFit/>
          </a:bodyPr>
          <a:lstStyle/>
          <a:p>
            <a:pPr algn="l"/>
            <a:r>
              <a:rPr sz="1400" b="0" i="1">
                <a:solidFill>
                  <a:srgbClr val="555555"/>
                </a:solidFill>
                <a:latin typeface="Calibri"/>
              </a:rPr>
              <a:t>Glencore × NYU SPS Consulting Practicum — Environmental Due Diligence Framework Development</a:t>
            </a:r>
          </a:p>
        </p:txBody>
      </p:sp>
      <p:sp>
        <p:nvSpPr>
          <p:cNvPr id="5" name="Rectangle 4"/>
          <p:cNvSpPr/>
          <p:nvPr/>
        </p:nvSpPr>
        <p:spPr>
          <a:xfrm>
            <a:off x="457200" y="1371600"/>
            <a:ext cx="11247120" cy="868680"/>
          </a:xfrm>
          <a:prstGeom prst="rect">
            <a:avLst/>
          </a:prstGeom>
          <a:solidFill>
            <a:srgbClr val="E0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17320"/>
            <a:ext cx="10972800" cy="320040"/>
          </a:xfrm>
          <a:prstGeom prst="rect">
            <a:avLst/>
          </a:prstGeom>
          <a:noFill/>
        </p:spPr>
        <p:txBody>
          <a:bodyPr wrap="square" anchor="t" lIns="45720" rIns="45720">
            <a:spAutoFit/>
          </a:bodyPr>
          <a:lstStyle/>
          <a:p>
            <a:pPr algn="l"/>
            <a:r>
              <a:rPr sz="1400" b="1" i="0">
                <a:solidFill>
                  <a:srgbClr val="005F73"/>
                </a:solidFill>
                <a:latin typeface="Calibri"/>
              </a:rPr>
              <a:t>The challenge</a:t>
            </a:r>
          </a:p>
        </p:txBody>
      </p:sp>
      <p:sp>
        <p:nvSpPr>
          <p:cNvPr id="7" name="TextBox 6"/>
          <p:cNvSpPr txBox="1"/>
          <p:nvPr/>
        </p:nvSpPr>
        <p:spPr>
          <a:xfrm>
            <a:off x="640080" y="1737360"/>
            <a:ext cx="10972800" cy="502920"/>
          </a:xfrm>
          <a:prstGeom prst="rect">
            <a:avLst/>
          </a:prstGeom>
          <a:noFill/>
        </p:spPr>
        <p:txBody>
          <a:bodyPr wrap="square" anchor="t" lIns="45720" rIns="45720">
            <a:spAutoFit/>
          </a:bodyPr>
          <a:lstStyle/>
          <a:p>
            <a:pPr algn="l"/>
            <a:r>
              <a:rPr sz="1100" b="0" i="0">
                <a:solidFill>
                  <a:srgbClr val="1A1A1A"/>
                </a:solidFill>
                <a:latin typeface="Calibri"/>
              </a:rPr>
              <a:t>Integrate environmental risk into Glencore's existing human-rights-focused due diligence framework. 200,000+ goods &amp; services suppliers and 1,000+ metals &amp; minerals suppliers; small assessment team that is not a subject-matter expert across every risk type. → Scalable, risk-based approach essential.</a:t>
            </a:r>
          </a:p>
        </p:txBody>
      </p:sp>
      <p:sp>
        <p:nvSpPr>
          <p:cNvPr id="8" name="TextBox 7"/>
          <p:cNvSpPr txBox="1"/>
          <p:nvPr/>
        </p:nvSpPr>
        <p:spPr>
          <a:xfrm>
            <a:off x="457200" y="2423160"/>
            <a:ext cx="5486400" cy="365760"/>
          </a:xfrm>
          <a:prstGeom prst="rect">
            <a:avLst/>
          </a:prstGeom>
          <a:noFill/>
        </p:spPr>
        <p:txBody>
          <a:bodyPr wrap="square" anchor="t" lIns="45720" rIns="45720">
            <a:spAutoFit/>
          </a:bodyPr>
          <a:lstStyle/>
          <a:p>
            <a:pPr algn="l"/>
            <a:r>
              <a:rPr sz="1400" b="1" i="0">
                <a:solidFill>
                  <a:srgbClr val="005F73"/>
                </a:solidFill>
                <a:latin typeface="Calibri"/>
              </a:rPr>
              <a:t>Project objective</a:t>
            </a:r>
          </a:p>
        </p:txBody>
      </p:sp>
      <p:sp>
        <p:nvSpPr>
          <p:cNvPr id="9" name="TextBox 8"/>
          <p:cNvSpPr txBox="1"/>
          <p:nvPr/>
        </p:nvSpPr>
        <p:spPr>
          <a:xfrm>
            <a:off x="457200" y="2788920"/>
            <a:ext cx="5486400" cy="1828800"/>
          </a:xfrm>
          <a:prstGeom prst="rect">
            <a:avLst/>
          </a:prstGeom>
          <a:noFill/>
        </p:spPr>
        <p:txBody>
          <a:bodyPr wrap="square">
            <a:spAutoFit/>
          </a:bodyPr>
          <a:lstStyle/>
          <a:p>
            <a:pPr algn="l">
              <a:lnSpc>
                <a:spcPct val="118000"/>
              </a:lnSpc>
            </a:pPr>
            <a:r>
              <a:rPr sz="1100" b="1">
                <a:solidFill>
                  <a:srgbClr val="1A1A1A"/>
                </a:solidFill>
                <a:latin typeface="Calibri"/>
              </a:rPr>
              <a:t>• Develop a practical, risk-based environmental due-diligence guideline and process workflow</a:t>
            </a:r>
          </a:p>
          <a:p>
            <a:pPr algn="l">
              <a:lnSpc>
                <a:spcPct val="118000"/>
              </a:lnSpc>
            </a:pPr>
            <a:r>
              <a:rPr sz="1100" b="0">
                <a:solidFill>
                  <a:srgbClr val="1A1A1A"/>
                </a:solidFill>
                <a:latin typeface="Calibri"/>
              </a:rPr>
              <a:t>• Build on Glencore's saliency-based risk framework</a:t>
            </a:r>
          </a:p>
          <a:p>
            <a:pPr algn="l">
              <a:lnSpc>
                <a:spcPct val="118000"/>
              </a:lnSpc>
            </a:pPr>
            <a:r>
              <a:rPr sz="1100" b="0">
                <a:solidFill>
                  <a:srgbClr val="1A1A1A"/>
                </a:solidFill>
                <a:latin typeface="Calibri"/>
              </a:rPr>
              <a:t>• Account for very limited assessor resources</a:t>
            </a:r>
          </a:p>
          <a:p>
            <a:pPr algn="l">
              <a:lnSpc>
                <a:spcPct val="118000"/>
              </a:lnSpc>
            </a:pPr>
            <a:r>
              <a:rPr sz="1100" b="0">
                <a:solidFill>
                  <a:srgbClr val="1A1A1A"/>
                </a:solidFill>
                <a:latin typeface="Calibri"/>
              </a:rPr>
              <a:t>• Inform compliance with EU CSRD, CSDDD, EU Battery Regulation, and the Consolidated Mining Standard Initiative</a:t>
            </a:r>
          </a:p>
        </p:txBody>
      </p:sp>
      <p:sp>
        <p:nvSpPr>
          <p:cNvPr id="10" name="TextBox 9"/>
          <p:cNvSpPr txBox="1"/>
          <p:nvPr/>
        </p:nvSpPr>
        <p:spPr>
          <a:xfrm>
            <a:off x="6400800" y="2423160"/>
            <a:ext cx="5303520" cy="365760"/>
          </a:xfrm>
          <a:prstGeom prst="rect">
            <a:avLst/>
          </a:prstGeom>
          <a:noFill/>
        </p:spPr>
        <p:txBody>
          <a:bodyPr wrap="square" anchor="t" lIns="45720" rIns="45720">
            <a:spAutoFit/>
          </a:bodyPr>
          <a:lstStyle/>
          <a:p>
            <a:pPr algn="l"/>
            <a:r>
              <a:rPr sz="1400" b="1" i="0">
                <a:solidFill>
                  <a:srgbClr val="005F73"/>
                </a:solidFill>
                <a:latin typeface="Calibri"/>
              </a:rPr>
              <a:t>Key research questions</a:t>
            </a:r>
          </a:p>
        </p:txBody>
      </p:sp>
      <p:sp>
        <p:nvSpPr>
          <p:cNvPr id="11" name="TextBox 10"/>
          <p:cNvSpPr txBox="1"/>
          <p:nvPr/>
        </p:nvSpPr>
        <p:spPr>
          <a:xfrm>
            <a:off x="6400800" y="2788920"/>
            <a:ext cx="5303520" cy="1828800"/>
          </a:xfrm>
          <a:prstGeom prst="rect">
            <a:avLst/>
          </a:prstGeom>
          <a:noFill/>
        </p:spPr>
        <p:txBody>
          <a:bodyPr wrap="square">
            <a:spAutoFit/>
          </a:bodyPr>
          <a:lstStyle/>
          <a:p>
            <a:pPr algn="l">
              <a:lnSpc>
                <a:spcPct val="118000"/>
              </a:lnSpc>
            </a:pPr>
            <a:r>
              <a:rPr sz="1100" b="0">
                <a:solidFill>
                  <a:srgbClr val="1A1A1A"/>
                </a:solidFill>
                <a:latin typeface="Calibri"/>
              </a:rPr>
              <a:t>• How do we assess severity of environmental risk?</a:t>
            </a:r>
          </a:p>
          <a:p>
            <a:pPr algn="l">
              <a:lnSpc>
                <a:spcPct val="118000"/>
              </a:lnSpc>
            </a:pPr>
            <a:r>
              <a:rPr sz="1100" b="0">
                <a:solidFill>
                  <a:srgbClr val="1A1A1A"/>
                </a:solidFill>
                <a:latin typeface="Calibri"/>
              </a:rPr>
              <a:t>• How do we prioritize among competing concerns?</a:t>
            </a:r>
          </a:p>
          <a:p>
            <a:pPr algn="l">
              <a:lnSpc>
                <a:spcPct val="118000"/>
              </a:lnSpc>
            </a:pPr>
            <a:r>
              <a:rPr sz="1100" b="1">
                <a:solidFill>
                  <a:srgbClr val="1A1A1A"/>
                </a:solidFill>
                <a:latin typeface="Calibri"/>
              </a:rPr>
              <a:t>• How do we translate risk identification into actionable due diligence with a small team?</a:t>
            </a:r>
          </a:p>
          <a:p>
            <a:pPr algn="l">
              <a:lnSpc>
                <a:spcPct val="118000"/>
              </a:lnSpc>
            </a:pPr>
            <a:r>
              <a:rPr sz="1100" b="0">
                <a:solidFill>
                  <a:srgbClr val="1A1A1A"/>
                </a:solidFill>
                <a:latin typeface="Calibri"/>
              </a:rPr>
              <a:t>• How does sector + jurisdiction influence prioritization (water scarcity, protected areas, hazardous materials)?</a:t>
            </a:r>
          </a:p>
        </p:txBody>
      </p:sp>
      <p:sp>
        <p:nvSpPr>
          <p:cNvPr id="12" name="TextBox 11"/>
          <p:cNvSpPr txBox="1"/>
          <p:nvPr/>
        </p:nvSpPr>
        <p:spPr>
          <a:xfrm>
            <a:off x="457200" y="4709160"/>
            <a:ext cx="5486400" cy="365760"/>
          </a:xfrm>
          <a:prstGeom prst="rect">
            <a:avLst/>
          </a:prstGeom>
          <a:noFill/>
        </p:spPr>
        <p:txBody>
          <a:bodyPr wrap="square" anchor="t" lIns="45720" rIns="45720">
            <a:spAutoFit/>
          </a:bodyPr>
          <a:lstStyle/>
          <a:p>
            <a:pPr algn="l"/>
            <a:r>
              <a:rPr sz="1400" b="1" i="0">
                <a:solidFill>
                  <a:srgbClr val="005F73"/>
                </a:solidFill>
                <a:latin typeface="Calibri"/>
              </a:rPr>
              <a:t>Deliverables</a:t>
            </a:r>
          </a:p>
        </p:txBody>
      </p:sp>
      <p:sp>
        <p:nvSpPr>
          <p:cNvPr id="13" name="TextBox 12"/>
          <p:cNvSpPr txBox="1"/>
          <p:nvPr/>
        </p:nvSpPr>
        <p:spPr>
          <a:xfrm>
            <a:off x="457200" y="5074920"/>
            <a:ext cx="5486400" cy="914400"/>
          </a:xfrm>
          <a:prstGeom prst="rect">
            <a:avLst/>
          </a:prstGeom>
          <a:noFill/>
        </p:spPr>
        <p:txBody>
          <a:bodyPr wrap="square">
            <a:spAutoFit/>
          </a:bodyPr>
          <a:lstStyle/>
          <a:p>
            <a:pPr algn="l">
              <a:lnSpc>
                <a:spcPct val="118000"/>
              </a:lnSpc>
            </a:pPr>
            <a:r>
              <a:rPr sz="1100" b="0">
                <a:solidFill>
                  <a:srgbClr val="1A1A1A"/>
                </a:solidFill>
                <a:latin typeface="Calibri"/>
              </a:rPr>
              <a:t>• 1. Environmental Due Diligence Guideline</a:t>
            </a:r>
          </a:p>
          <a:p>
            <a:pPr algn="l">
              <a:lnSpc>
                <a:spcPct val="118000"/>
              </a:lnSpc>
            </a:pPr>
            <a:r>
              <a:rPr sz="1100" b="0">
                <a:solidFill>
                  <a:srgbClr val="1A1A1A"/>
                </a:solidFill>
                <a:latin typeface="Calibri"/>
              </a:rPr>
              <a:t>• 2. End-to-end process workflow (visual)</a:t>
            </a:r>
          </a:p>
          <a:p>
            <a:pPr algn="l">
              <a:lnSpc>
                <a:spcPct val="118000"/>
              </a:lnSpc>
            </a:pPr>
            <a:r>
              <a:rPr sz="1100" b="0">
                <a:solidFill>
                  <a:srgbClr val="1A1A1A"/>
                </a:solidFill>
                <a:latin typeface="Calibri"/>
              </a:rPr>
              <a:t>• 3. This presentation + tool prototype</a:t>
            </a:r>
          </a:p>
        </p:txBody>
      </p:sp>
      <p:sp>
        <p:nvSpPr>
          <p:cNvPr id="14" name="TextBox 13"/>
          <p:cNvSpPr txBox="1"/>
          <p:nvPr/>
        </p:nvSpPr>
        <p:spPr>
          <a:xfrm>
            <a:off x="6400800" y="4709160"/>
            <a:ext cx="5303520" cy="365760"/>
          </a:xfrm>
          <a:prstGeom prst="rect">
            <a:avLst/>
          </a:prstGeom>
          <a:noFill/>
        </p:spPr>
        <p:txBody>
          <a:bodyPr wrap="square" anchor="t" lIns="45720" rIns="45720">
            <a:spAutoFit/>
          </a:bodyPr>
          <a:lstStyle/>
          <a:p>
            <a:pPr algn="l"/>
            <a:r>
              <a:rPr sz="1400" b="1" i="0">
                <a:solidFill>
                  <a:srgbClr val="005F73"/>
                </a:solidFill>
                <a:latin typeface="Calibri"/>
              </a:rPr>
              <a:t>Anchor frameworks</a:t>
            </a:r>
          </a:p>
        </p:txBody>
      </p:sp>
      <p:sp>
        <p:nvSpPr>
          <p:cNvPr id="15" name="TextBox 14"/>
          <p:cNvSpPr txBox="1"/>
          <p:nvPr/>
        </p:nvSpPr>
        <p:spPr>
          <a:xfrm>
            <a:off x="6400800" y="5074920"/>
            <a:ext cx="5303520" cy="914400"/>
          </a:xfrm>
          <a:prstGeom prst="rect">
            <a:avLst/>
          </a:prstGeom>
          <a:noFill/>
        </p:spPr>
        <p:txBody>
          <a:bodyPr wrap="square">
            <a:spAutoFit/>
          </a:bodyPr>
          <a:lstStyle/>
          <a:p>
            <a:pPr algn="l">
              <a:lnSpc>
                <a:spcPct val="118000"/>
              </a:lnSpc>
            </a:pPr>
            <a:r>
              <a:rPr sz="1100" b="0">
                <a:solidFill>
                  <a:srgbClr val="1A1A1A"/>
                </a:solidFill>
                <a:latin typeface="Calibri"/>
              </a:rPr>
              <a:t>• OECD Handbook on Environmental DD in Mineral Supply Chains (2023)</a:t>
            </a:r>
          </a:p>
          <a:p>
            <a:pPr algn="l">
              <a:lnSpc>
                <a:spcPct val="118000"/>
              </a:lnSpc>
            </a:pPr>
            <a:r>
              <a:rPr sz="1100" b="0">
                <a:solidFill>
                  <a:srgbClr val="1A1A1A"/>
                </a:solidFill>
                <a:latin typeface="Calibri"/>
              </a:rPr>
              <a:t>• RMI Supply Chain DD Plus Module (April 2025)</a:t>
            </a:r>
          </a:p>
          <a:p>
            <a:pPr algn="l">
              <a:lnSpc>
                <a:spcPct val="118000"/>
              </a:lnSpc>
            </a:pPr>
            <a:r>
              <a:rPr sz="1100" b="0">
                <a:solidFill>
                  <a:srgbClr val="1A1A1A"/>
                </a:solidFill>
                <a:latin typeface="Calibri"/>
              </a:rPr>
              <a:t>• UNDP HRDD and the Environment: A Practical Tool for Business</a:t>
            </a:r>
          </a:p>
          <a:p>
            <a:pPr algn="l">
              <a:lnSpc>
                <a:spcPct val="118000"/>
              </a:lnSpc>
            </a:pPr>
            <a:r>
              <a:rPr sz="1100" b="0">
                <a:solidFill>
                  <a:srgbClr val="1A1A1A"/>
                </a:solidFill>
                <a:latin typeface="Calibri"/>
              </a:rPr>
              <a:t>• Glencore's saliency-based risk framework + SCDD M&amp;M Procedure</a:t>
            </a:r>
          </a:p>
        </p:txBody>
      </p:sp>
      <p:sp>
        <p:nvSpPr>
          <p:cNvPr id="16" name="TextBox 15"/>
          <p:cNvSpPr txBox="1"/>
          <p:nvPr/>
        </p:nvSpPr>
        <p:spPr>
          <a:xfrm>
            <a:off x="457200" y="5989320"/>
            <a:ext cx="11247120" cy="320040"/>
          </a:xfrm>
          <a:prstGeom prst="rect">
            <a:avLst/>
          </a:prstGeom>
          <a:noFill/>
        </p:spPr>
        <p:txBody>
          <a:bodyPr wrap="square" anchor="t" lIns="45720" rIns="45720">
            <a:spAutoFit/>
          </a:bodyPr>
          <a:lstStyle/>
          <a:p>
            <a:pPr algn="l"/>
            <a:r>
              <a:rPr sz="900" b="0" i="1">
                <a:solidFill>
                  <a:srgbClr val="555555"/>
                </a:solidFill>
                <a:latin typeface="Calibri"/>
              </a:rPr>
              <a:t>Source: Glencore × NYU Consulting Practicum project brief, NYU SPS Center for Global Affairs, 2026.</a:t>
            </a:r>
          </a:p>
        </p:txBody>
      </p:sp>
      <p:sp>
        <p:nvSpPr>
          <p:cNvPr id="17" name="TextBox 16"/>
          <p:cNvSpPr txBox="1"/>
          <p:nvPr/>
        </p:nvSpPr>
        <p:spPr>
          <a:xfrm>
            <a:off x="457200" y="6446520"/>
            <a:ext cx="7315200" cy="320040"/>
          </a:xfrm>
          <a:prstGeom prst="rect">
            <a:avLst/>
          </a:prstGeom>
          <a:noFill/>
        </p:spPr>
        <p:txBody>
          <a:bodyPr wrap="square" anchor="t" lIns="45720" rIns="45720">
            <a:spAutoFit/>
          </a:bodyPr>
          <a:lstStyle/>
          <a:p>
            <a:pPr algn="l"/>
            <a:r>
              <a:rPr sz="900" b="0" i="1">
                <a:solidFill>
                  <a:srgbClr val="555555"/>
                </a:solidFill>
                <a:latin typeface="Calibri"/>
              </a:rPr>
              <a:t>Glencore × NYU SPS Center for Global Affairs Consulting Practicum</a:t>
            </a:r>
          </a:p>
        </p:txBody>
      </p:sp>
      <p:sp>
        <p:nvSpPr>
          <p:cNvPr id="18" name="TextBox 17"/>
          <p:cNvSpPr txBox="1"/>
          <p:nvPr/>
        </p:nvSpPr>
        <p:spPr>
          <a:xfrm>
            <a:off x="10515600" y="6446520"/>
            <a:ext cx="1188720" cy="320040"/>
          </a:xfrm>
          <a:prstGeom prst="rect">
            <a:avLst/>
          </a:prstGeom>
          <a:noFill/>
        </p:spPr>
        <p:txBody>
          <a:bodyPr wrap="square" anchor="t" lIns="45720" rIns="45720">
            <a:spAutoFit/>
          </a:bodyPr>
          <a:lstStyle/>
          <a:p>
            <a:pPr algn="r"/>
            <a:r>
              <a:rPr sz="900" b="0" i="0">
                <a:solidFill>
                  <a:srgbClr val="555555"/>
                </a:solidFill>
                <a:latin typeface="Calibri"/>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00A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548640"/>
          </a:xfrm>
          <a:prstGeom prst="rect">
            <a:avLst/>
          </a:prstGeom>
          <a:noFill/>
        </p:spPr>
        <p:txBody>
          <a:bodyPr wrap="square" anchor="t" lIns="45720" rIns="45720">
            <a:spAutoFit/>
          </a:bodyPr>
          <a:lstStyle/>
          <a:p>
            <a:pPr algn="l"/>
            <a:r>
              <a:rPr sz="2600" b="1" i="0">
                <a:solidFill>
                  <a:srgbClr val="005F73"/>
                </a:solidFill>
                <a:latin typeface="Calibri"/>
              </a:rPr>
              <a:t>Why this matters now</a:t>
            </a:r>
          </a:p>
        </p:txBody>
      </p:sp>
      <p:sp>
        <p:nvSpPr>
          <p:cNvPr id="4" name="TextBox 3"/>
          <p:cNvSpPr txBox="1"/>
          <p:nvPr/>
        </p:nvSpPr>
        <p:spPr>
          <a:xfrm>
            <a:off x="457200" y="777240"/>
            <a:ext cx="11247120" cy="365760"/>
          </a:xfrm>
          <a:prstGeom prst="rect">
            <a:avLst/>
          </a:prstGeom>
          <a:noFill/>
        </p:spPr>
        <p:txBody>
          <a:bodyPr wrap="square" anchor="t" lIns="45720" rIns="45720">
            <a:spAutoFit/>
          </a:bodyPr>
          <a:lstStyle/>
          <a:p>
            <a:pPr algn="l"/>
            <a:r>
              <a:rPr sz="1400" b="0" i="1">
                <a:solidFill>
                  <a:srgbClr val="555555"/>
                </a:solidFill>
                <a:latin typeface="Calibri"/>
              </a:rPr>
              <a:t>The energy transition is mineral-intensive — and supply is concentrated</a:t>
            </a:r>
          </a:p>
        </p:txBody>
      </p:sp>
      <p:sp>
        <p:nvSpPr>
          <p:cNvPr id="5" name="Rectangle 4"/>
          <p:cNvSpPr/>
          <p:nvPr/>
        </p:nvSpPr>
        <p:spPr>
          <a:xfrm>
            <a:off x="457200" y="1417320"/>
            <a:ext cx="2834640" cy="1828800"/>
          </a:xfrm>
          <a:prstGeom prst="rect">
            <a:avLst/>
          </a:prstGeom>
          <a:solidFill>
            <a:srgbClr val="005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834640" cy="822960"/>
          </a:xfrm>
          <a:prstGeom prst="rect">
            <a:avLst/>
          </a:prstGeom>
          <a:noFill/>
        </p:spPr>
        <p:txBody>
          <a:bodyPr wrap="square" anchor="t" lIns="45720" rIns="45720">
            <a:spAutoFit/>
          </a:bodyPr>
          <a:lstStyle/>
          <a:p>
            <a:pPr algn="ctr"/>
            <a:r>
              <a:rPr sz="4400" b="1" i="0">
                <a:solidFill>
                  <a:srgbClr val="FFFFFF"/>
                </a:solidFill>
                <a:latin typeface="Calibri"/>
              </a:rPr>
              <a:t>4–6×</a:t>
            </a:r>
          </a:p>
        </p:txBody>
      </p:sp>
      <p:sp>
        <p:nvSpPr>
          <p:cNvPr id="7" name="TextBox 6"/>
          <p:cNvSpPr txBox="1"/>
          <p:nvPr/>
        </p:nvSpPr>
        <p:spPr>
          <a:xfrm>
            <a:off x="457200" y="2468880"/>
            <a:ext cx="2834640" cy="731520"/>
          </a:xfrm>
          <a:prstGeom prst="rect">
            <a:avLst/>
          </a:prstGeom>
          <a:noFill/>
        </p:spPr>
        <p:txBody>
          <a:bodyPr wrap="square" anchor="t" lIns="45720" rIns="45720">
            <a:spAutoFit/>
          </a:bodyPr>
          <a:lstStyle/>
          <a:p>
            <a:pPr algn="ctr"/>
            <a:r>
              <a:rPr sz="1100" b="0" i="0">
                <a:solidFill>
                  <a:srgbClr val="FFFFFF"/>
                </a:solidFill>
                <a:latin typeface="Calibri"/>
              </a:rPr>
              <a:t>IEA: critical-mineral demand growth by 2040 under net-zero scenarios</a:t>
            </a:r>
          </a:p>
        </p:txBody>
      </p:sp>
      <p:sp>
        <p:nvSpPr>
          <p:cNvPr id="8" name="Rectangle 7"/>
          <p:cNvSpPr/>
          <p:nvPr/>
        </p:nvSpPr>
        <p:spPr>
          <a:xfrm>
            <a:off x="3383280" y="1417320"/>
            <a:ext cx="2834640" cy="1828800"/>
          </a:xfrm>
          <a:prstGeom prst="rect">
            <a:avLst/>
          </a:prstGeom>
          <a:solidFill>
            <a:srgbClr val="00A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83280" y="1600200"/>
            <a:ext cx="2834640" cy="822960"/>
          </a:xfrm>
          <a:prstGeom prst="rect">
            <a:avLst/>
          </a:prstGeom>
          <a:noFill/>
        </p:spPr>
        <p:txBody>
          <a:bodyPr wrap="square" anchor="t" lIns="45720" rIns="45720">
            <a:spAutoFit/>
          </a:bodyPr>
          <a:lstStyle/>
          <a:p>
            <a:pPr algn="ctr"/>
            <a:r>
              <a:rPr sz="4400" b="1" i="0">
                <a:solidFill>
                  <a:srgbClr val="FFFFFF"/>
                </a:solidFill>
                <a:latin typeface="Calibri"/>
              </a:rPr>
              <a:t>74%</a:t>
            </a:r>
          </a:p>
        </p:txBody>
      </p:sp>
      <p:sp>
        <p:nvSpPr>
          <p:cNvPr id="10" name="TextBox 9"/>
          <p:cNvSpPr txBox="1"/>
          <p:nvPr/>
        </p:nvSpPr>
        <p:spPr>
          <a:xfrm>
            <a:off x="3383280" y="2468880"/>
            <a:ext cx="2834640" cy="731520"/>
          </a:xfrm>
          <a:prstGeom prst="rect">
            <a:avLst/>
          </a:prstGeom>
          <a:noFill/>
        </p:spPr>
        <p:txBody>
          <a:bodyPr wrap="square" anchor="t" lIns="45720" rIns="45720">
            <a:spAutoFit/>
          </a:bodyPr>
          <a:lstStyle/>
          <a:p>
            <a:pPr algn="ctr"/>
            <a:r>
              <a:rPr sz="1100" b="0" i="0">
                <a:solidFill>
                  <a:srgbClr val="FFFFFF"/>
                </a:solidFill>
                <a:latin typeface="Calibri"/>
              </a:rPr>
              <a:t>Cobalt — DRC share of 2023 global production (USGS MCS 2024)</a:t>
            </a:r>
          </a:p>
        </p:txBody>
      </p:sp>
      <p:sp>
        <p:nvSpPr>
          <p:cNvPr id="11" name="Rectangle 10"/>
          <p:cNvSpPr/>
          <p:nvPr/>
        </p:nvSpPr>
        <p:spPr>
          <a:xfrm>
            <a:off x="6309360" y="1417320"/>
            <a:ext cx="2834640" cy="1828800"/>
          </a:xfrm>
          <a:prstGeom prst="rect">
            <a:avLst/>
          </a:prstGeom>
          <a:solidFill>
            <a:srgbClr val="00A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600200"/>
            <a:ext cx="2834640" cy="822960"/>
          </a:xfrm>
          <a:prstGeom prst="rect">
            <a:avLst/>
          </a:prstGeom>
          <a:noFill/>
        </p:spPr>
        <p:txBody>
          <a:bodyPr wrap="square" anchor="t" lIns="45720" rIns="45720">
            <a:spAutoFit/>
          </a:bodyPr>
          <a:lstStyle/>
          <a:p>
            <a:pPr algn="ctr"/>
            <a:r>
              <a:rPr sz="4400" b="1" i="0">
                <a:solidFill>
                  <a:srgbClr val="FFFFFF"/>
                </a:solidFill>
                <a:latin typeface="Calibri"/>
              </a:rPr>
              <a:t>48%</a:t>
            </a:r>
          </a:p>
        </p:txBody>
      </p:sp>
      <p:sp>
        <p:nvSpPr>
          <p:cNvPr id="13" name="TextBox 12"/>
          <p:cNvSpPr txBox="1"/>
          <p:nvPr/>
        </p:nvSpPr>
        <p:spPr>
          <a:xfrm>
            <a:off x="6309360" y="2468880"/>
            <a:ext cx="2834640" cy="731520"/>
          </a:xfrm>
          <a:prstGeom prst="rect">
            <a:avLst/>
          </a:prstGeom>
          <a:noFill/>
        </p:spPr>
        <p:txBody>
          <a:bodyPr wrap="square" anchor="t" lIns="45720" rIns="45720">
            <a:spAutoFit/>
          </a:bodyPr>
          <a:lstStyle/>
          <a:p>
            <a:pPr algn="ctr"/>
            <a:r>
              <a:rPr sz="1100" b="0" i="0">
                <a:solidFill>
                  <a:srgbClr val="FFFFFF"/>
                </a:solidFill>
                <a:latin typeface="Calibri"/>
              </a:rPr>
              <a:t>Nickel — Indonesia share of 2023 global production</a:t>
            </a:r>
          </a:p>
        </p:txBody>
      </p:sp>
      <p:sp>
        <p:nvSpPr>
          <p:cNvPr id="14" name="Rectangle 13"/>
          <p:cNvSpPr/>
          <p:nvPr/>
        </p:nvSpPr>
        <p:spPr>
          <a:xfrm>
            <a:off x="9235440" y="1417320"/>
            <a:ext cx="2834640" cy="1828800"/>
          </a:xfrm>
          <a:prstGeom prst="rect">
            <a:avLst/>
          </a:prstGeom>
          <a:solidFill>
            <a:srgbClr val="005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0" y="1600200"/>
            <a:ext cx="2834640" cy="822960"/>
          </a:xfrm>
          <a:prstGeom prst="rect">
            <a:avLst/>
          </a:prstGeom>
          <a:noFill/>
        </p:spPr>
        <p:txBody>
          <a:bodyPr wrap="square" anchor="t" lIns="45720" rIns="45720">
            <a:spAutoFit/>
          </a:bodyPr>
          <a:lstStyle/>
          <a:p>
            <a:pPr algn="ctr"/>
            <a:r>
              <a:rPr sz="4400" b="1" i="0">
                <a:solidFill>
                  <a:srgbClr val="FFFFFF"/>
                </a:solidFill>
                <a:latin typeface="Calibri"/>
              </a:rPr>
              <a:t>72%</a:t>
            </a:r>
          </a:p>
        </p:txBody>
      </p:sp>
      <p:sp>
        <p:nvSpPr>
          <p:cNvPr id="16" name="TextBox 15"/>
          <p:cNvSpPr txBox="1"/>
          <p:nvPr/>
        </p:nvSpPr>
        <p:spPr>
          <a:xfrm>
            <a:off x="9235440" y="2468880"/>
            <a:ext cx="2834640" cy="731520"/>
          </a:xfrm>
          <a:prstGeom prst="rect">
            <a:avLst/>
          </a:prstGeom>
          <a:noFill/>
        </p:spPr>
        <p:txBody>
          <a:bodyPr wrap="square" anchor="t" lIns="45720" rIns="45720">
            <a:spAutoFit/>
          </a:bodyPr>
          <a:lstStyle/>
          <a:p>
            <a:pPr algn="ctr"/>
            <a:r>
              <a:rPr sz="1100" b="0" i="0">
                <a:solidFill>
                  <a:srgbClr val="FFFFFF"/>
                </a:solidFill>
                <a:latin typeface="Calibri"/>
              </a:rPr>
              <a:t>Platinum — South Africa share of 2023 global production</a:t>
            </a:r>
          </a:p>
        </p:txBody>
      </p:sp>
      <p:sp>
        <p:nvSpPr>
          <p:cNvPr id="17" name="TextBox 16"/>
          <p:cNvSpPr txBox="1"/>
          <p:nvPr/>
        </p:nvSpPr>
        <p:spPr>
          <a:xfrm>
            <a:off x="457200" y="3520440"/>
            <a:ext cx="11247120" cy="365760"/>
          </a:xfrm>
          <a:prstGeom prst="rect">
            <a:avLst/>
          </a:prstGeom>
          <a:noFill/>
        </p:spPr>
        <p:txBody>
          <a:bodyPr wrap="square" anchor="t" lIns="45720" rIns="45720">
            <a:spAutoFit/>
          </a:bodyPr>
          <a:lstStyle/>
          <a:p>
            <a:pPr algn="l"/>
            <a:r>
              <a:rPr sz="1600" b="1" i="0">
                <a:solidFill>
                  <a:srgbClr val="005F73"/>
                </a:solidFill>
                <a:latin typeface="Calibri"/>
              </a:rPr>
              <a:t>Two trends collide</a:t>
            </a:r>
          </a:p>
        </p:txBody>
      </p:sp>
      <p:sp>
        <p:nvSpPr>
          <p:cNvPr id="18" name="TextBox 17"/>
          <p:cNvSpPr txBox="1"/>
          <p:nvPr/>
        </p:nvSpPr>
        <p:spPr>
          <a:xfrm>
            <a:off x="457200" y="3931920"/>
            <a:ext cx="11247120" cy="1828800"/>
          </a:xfrm>
          <a:prstGeom prst="rect">
            <a:avLst/>
          </a:prstGeom>
          <a:noFill/>
        </p:spPr>
        <p:txBody>
          <a:bodyPr wrap="square">
            <a:spAutoFit/>
          </a:bodyPr>
          <a:lstStyle/>
          <a:p>
            <a:pPr algn="l">
              <a:lnSpc>
                <a:spcPct val="118000"/>
              </a:lnSpc>
            </a:pPr>
            <a:r>
              <a:rPr sz="1200" b="1">
                <a:solidFill>
                  <a:srgbClr val="1A1A1A"/>
                </a:solidFill>
                <a:latin typeface="Calibri"/>
              </a:rPr>
              <a:t>• (a) The energy transition runs through critical minerals.</a:t>
            </a:r>
          </a:p>
          <a:p>
            <a:pPr algn="l">
              <a:lnSpc>
                <a:spcPct val="118000"/>
              </a:lnSpc>
            </a:pPr>
            <a:r>
              <a:rPr sz="1200" b="0">
                <a:solidFill>
                  <a:srgbClr val="1A1A1A"/>
                </a:solidFill>
                <a:latin typeface="Calibri"/>
              </a:rPr>
              <a:t>• Cobalt + nickel for batteries · copper for grid · REEs for wind turbines · platinum for fuel cells. The IEA estimates 4–6× demand growth by 2040.</a:t>
            </a:r>
          </a:p>
          <a:p>
            <a:pPr algn="l">
              <a:lnSpc>
                <a:spcPct val="118000"/>
              </a:lnSpc>
            </a:pPr>
            <a:r>
              <a:rPr sz="1200" b="1">
                <a:solidFill>
                  <a:srgbClr val="1A1A1A"/>
                </a:solidFill>
                <a:latin typeface="Calibri"/>
              </a:rPr>
              <a:t>• (b) Production is concentrated — and concentration overlaps with high-risk jurisdictions.</a:t>
            </a:r>
          </a:p>
          <a:p>
            <a:pPr algn="l">
              <a:lnSpc>
                <a:spcPct val="118000"/>
              </a:lnSpc>
            </a:pPr>
            <a:r>
              <a:rPr sz="1200" b="0">
                <a:solidFill>
                  <a:srgbClr val="1A1A1A"/>
                </a:solidFill>
                <a:latin typeface="Calibri"/>
              </a:rPr>
              <a:t>• The US 2022 Critical Minerals List, the EU Critical Raw Materials Act (2024), and the IRA all flag the same supply-concentration risk. For an operator like Glencore, that is the operational reality, not an abstraction.</a:t>
            </a:r>
          </a:p>
        </p:txBody>
      </p:sp>
      <p:sp>
        <p:nvSpPr>
          <p:cNvPr id="19" name="TextBox 18"/>
          <p:cNvSpPr txBox="1"/>
          <p:nvPr/>
        </p:nvSpPr>
        <p:spPr>
          <a:xfrm>
            <a:off x="457200" y="5989320"/>
            <a:ext cx="11247120" cy="320040"/>
          </a:xfrm>
          <a:prstGeom prst="rect">
            <a:avLst/>
          </a:prstGeom>
          <a:noFill/>
        </p:spPr>
        <p:txBody>
          <a:bodyPr wrap="square" anchor="t" lIns="45720" rIns="45720">
            <a:spAutoFit/>
          </a:bodyPr>
          <a:lstStyle/>
          <a:p>
            <a:pPr algn="l"/>
            <a:r>
              <a:rPr sz="900" b="0" i="1">
                <a:solidFill>
                  <a:srgbClr val="555555"/>
                </a:solidFill>
                <a:latin typeface="Calibri"/>
              </a:rPr>
              <a:t>Sources: IEA Critical Minerals Outlook 2024 (iea.org); USGS Mineral Commodity Summaries 2024 (pubs.usgs.gov/periodicals/mcs2024); USGS 2022 Critical Minerals List; EU Critical Raw Materials Act 2024.</a:t>
            </a:r>
          </a:p>
        </p:txBody>
      </p:sp>
      <p:sp>
        <p:nvSpPr>
          <p:cNvPr id="20" name="TextBox 19"/>
          <p:cNvSpPr txBox="1"/>
          <p:nvPr/>
        </p:nvSpPr>
        <p:spPr>
          <a:xfrm>
            <a:off x="457200" y="6446520"/>
            <a:ext cx="7315200" cy="320040"/>
          </a:xfrm>
          <a:prstGeom prst="rect">
            <a:avLst/>
          </a:prstGeom>
          <a:noFill/>
        </p:spPr>
        <p:txBody>
          <a:bodyPr wrap="square" anchor="t" lIns="45720" rIns="45720">
            <a:spAutoFit/>
          </a:bodyPr>
          <a:lstStyle/>
          <a:p>
            <a:pPr algn="l"/>
            <a:r>
              <a:rPr sz="900" b="0" i="1">
                <a:solidFill>
                  <a:srgbClr val="555555"/>
                </a:solidFill>
                <a:latin typeface="Calibri"/>
              </a:rPr>
              <a:t>Glencore × NYU SPS Center for Global Affairs Consulting Practicum</a:t>
            </a:r>
          </a:p>
        </p:txBody>
      </p:sp>
      <p:sp>
        <p:nvSpPr>
          <p:cNvPr id="21" name="TextBox 20"/>
          <p:cNvSpPr txBox="1"/>
          <p:nvPr/>
        </p:nvSpPr>
        <p:spPr>
          <a:xfrm>
            <a:off x="10515600" y="6446520"/>
            <a:ext cx="1188720" cy="320040"/>
          </a:xfrm>
          <a:prstGeom prst="rect">
            <a:avLst/>
          </a:prstGeom>
          <a:noFill/>
        </p:spPr>
        <p:txBody>
          <a:bodyPr wrap="square" anchor="t" lIns="45720" rIns="45720">
            <a:spAutoFit/>
          </a:bodyPr>
          <a:lstStyle/>
          <a:p>
            <a:pPr algn="r"/>
            <a:r>
              <a:rPr sz="900" b="0" i="0">
                <a:solidFill>
                  <a:srgbClr val="555555"/>
                </a:solidFill>
                <a:latin typeface="Calibri"/>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00A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548640"/>
          </a:xfrm>
          <a:prstGeom prst="rect">
            <a:avLst/>
          </a:prstGeom>
          <a:noFill/>
        </p:spPr>
        <p:txBody>
          <a:bodyPr wrap="square" anchor="t" lIns="45720" rIns="45720">
            <a:spAutoFit/>
          </a:bodyPr>
          <a:lstStyle/>
          <a:p>
            <a:pPr algn="l"/>
            <a:r>
              <a:rPr sz="2600" b="1" i="0">
                <a:solidFill>
                  <a:srgbClr val="005F73"/>
                </a:solidFill>
                <a:latin typeface="Calibri"/>
              </a:rPr>
              <a:t>The CAHRA × Critical Minerals overlap</a:t>
            </a:r>
          </a:p>
        </p:txBody>
      </p:sp>
      <p:sp>
        <p:nvSpPr>
          <p:cNvPr id="4" name="TextBox 3"/>
          <p:cNvSpPr txBox="1"/>
          <p:nvPr/>
        </p:nvSpPr>
        <p:spPr>
          <a:xfrm>
            <a:off x="457200" y="777240"/>
            <a:ext cx="11247120" cy="365760"/>
          </a:xfrm>
          <a:prstGeom prst="rect">
            <a:avLst/>
          </a:prstGeom>
          <a:noFill/>
        </p:spPr>
        <p:txBody>
          <a:bodyPr wrap="square" anchor="t" lIns="45720" rIns="45720">
            <a:spAutoFit/>
          </a:bodyPr>
          <a:lstStyle/>
          <a:p>
            <a:pPr algn="l"/>
            <a:r>
              <a:rPr sz="1400" b="0" i="1">
                <a:solidFill>
                  <a:srgbClr val="555555"/>
                </a:solidFill>
                <a:latin typeface="Calibri"/>
              </a:rPr>
              <a:t>Where the energy transition's supply chain meets Glencore's high-risk list</a:t>
            </a:r>
          </a:p>
        </p:txBody>
      </p:sp>
      <p:sp>
        <p:nvSpPr>
          <p:cNvPr id="5" name="Rectangle 4"/>
          <p:cNvSpPr/>
          <p:nvPr/>
        </p:nvSpPr>
        <p:spPr>
          <a:xfrm>
            <a:off x="457200" y="1371600"/>
            <a:ext cx="2194560" cy="384048"/>
          </a:xfrm>
          <a:prstGeom prst="rect">
            <a:avLst/>
          </a:prstGeom>
          <a:solidFill>
            <a:srgbClr val="005F73"/>
          </a:solidFill>
          <a:ln>
            <a:solidFill>
              <a:srgbClr val="005F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71600"/>
            <a:ext cx="2194560" cy="384048"/>
          </a:xfrm>
          <a:prstGeom prst="rect">
            <a:avLst/>
          </a:prstGeom>
          <a:noFill/>
        </p:spPr>
        <p:txBody>
          <a:bodyPr wrap="square" anchor="ctr" lIns="45720" rIns="45720">
            <a:spAutoFit/>
          </a:bodyPr>
          <a:lstStyle/>
          <a:p>
            <a:pPr algn="ctr"/>
            <a:r>
              <a:rPr sz="1200" b="1" i="0">
                <a:solidFill>
                  <a:srgbClr val="FFFFFF"/>
                </a:solidFill>
                <a:latin typeface="Calibri"/>
              </a:rPr>
              <a:t>Commodity</a:t>
            </a:r>
          </a:p>
        </p:txBody>
      </p:sp>
      <p:sp>
        <p:nvSpPr>
          <p:cNvPr id="7" name="Rectangle 6"/>
          <p:cNvSpPr/>
          <p:nvPr/>
        </p:nvSpPr>
        <p:spPr>
          <a:xfrm>
            <a:off x="2651760" y="1371600"/>
            <a:ext cx="2743200" cy="384048"/>
          </a:xfrm>
          <a:prstGeom prst="rect">
            <a:avLst/>
          </a:prstGeom>
          <a:solidFill>
            <a:srgbClr val="005F73"/>
          </a:solidFill>
          <a:ln>
            <a:solidFill>
              <a:srgbClr val="005F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1760" y="1371600"/>
            <a:ext cx="2743200" cy="384048"/>
          </a:xfrm>
          <a:prstGeom prst="rect">
            <a:avLst/>
          </a:prstGeom>
          <a:noFill/>
        </p:spPr>
        <p:txBody>
          <a:bodyPr wrap="square" anchor="ctr" lIns="45720" rIns="45720">
            <a:spAutoFit/>
          </a:bodyPr>
          <a:lstStyle/>
          <a:p>
            <a:pPr algn="ctr"/>
            <a:r>
              <a:rPr sz="1200" b="1" i="0">
                <a:solidFill>
                  <a:srgbClr val="FFFFFF"/>
                </a:solidFill>
                <a:latin typeface="Calibri"/>
              </a:rPr>
              <a:t>Top producer</a:t>
            </a:r>
          </a:p>
        </p:txBody>
      </p:sp>
      <p:sp>
        <p:nvSpPr>
          <p:cNvPr id="9" name="Rectangle 8"/>
          <p:cNvSpPr/>
          <p:nvPr/>
        </p:nvSpPr>
        <p:spPr>
          <a:xfrm>
            <a:off x="5394960" y="1371600"/>
            <a:ext cx="1828800" cy="384048"/>
          </a:xfrm>
          <a:prstGeom prst="rect">
            <a:avLst/>
          </a:prstGeom>
          <a:solidFill>
            <a:srgbClr val="005F73"/>
          </a:solidFill>
          <a:ln>
            <a:solidFill>
              <a:srgbClr val="005F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60" y="1371600"/>
            <a:ext cx="1828800" cy="384048"/>
          </a:xfrm>
          <a:prstGeom prst="rect">
            <a:avLst/>
          </a:prstGeom>
          <a:noFill/>
        </p:spPr>
        <p:txBody>
          <a:bodyPr wrap="square" anchor="ctr" lIns="45720" rIns="45720">
            <a:spAutoFit/>
          </a:bodyPr>
          <a:lstStyle/>
          <a:p>
            <a:pPr algn="ctr"/>
            <a:r>
              <a:rPr sz="1200" b="1" i="0">
                <a:solidFill>
                  <a:srgbClr val="FFFFFF"/>
                </a:solidFill>
                <a:latin typeface="Calibri"/>
              </a:rPr>
              <a:t>Share</a:t>
            </a:r>
          </a:p>
        </p:txBody>
      </p:sp>
      <p:sp>
        <p:nvSpPr>
          <p:cNvPr id="11" name="Rectangle 10"/>
          <p:cNvSpPr/>
          <p:nvPr/>
        </p:nvSpPr>
        <p:spPr>
          <a:xfrm>
            <a:off x="7223760" y="1371600"/>
            <a:ext cx="2560320" cy="384048"/>
          </a:xfrm>
          <a:prstGeom prst="rect">
            <a:avLst/>
          </a:prstGeom>
          <a:solidFill>
            <a:srgbClr val="005F73"/>
          </a:solidFill>
          <a:ln>
            <a:solidFill>
              <a:srgbClr val="005F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1371600"/>
            <a:ext cx="2560320" cy="384048"/>
          </a:xfrm>
          <a:prstGeom prst="rect">
            <a:avLst/>
          </a:prstGeom>
          <a:noFill/>
        </p:spPr>
        <p:txBody>
          <a:bodyPr wrap="square" anchor="ctr" lIns="45720" rIns="45720">
            <a:spAutoFit/>
          </a:bodyPr>
          <a:lstStyle/>
          <a:p>
            <a:pPr algn="ctr"/>
            <a:r>
              <a:rPr sz="1200" b="1" i="0">
                <a:solidFill>
                  <a:srgbClr val="FFFFFF"/>
                </a:solidFill>
                <a:latin typeface="Calibri"/>
              </a:rPr>
              <a:t>CAHRA</a:t>
            </a:r>
          </a:p>
        </p:txBody>
      </p:sp>
      <p:sp>
        <p:nvSpPr>
          <p:cNvPr id="13" name="Rectangle 12"/>
          <p:cNvSpPr/>
          <p:nvPr/>
        </p:nvSpPr>
        <p:spPr>
          <a:xfrm>
            <a:off x="9784080" y="1371600"/>
            <a:ext cx="1645920" cy="384048"/>
          </a:xfrm>
          <a:prstGeom prst="rect">
            <a:avLst/>
          </a:prstGeom>
          <a:solidFill>
            <a:srgbClr val="005F73"/>
          </a:solidFill>
          <a:ln>
            <a:solidFill>
              <a:srgbClr val="005F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0" y="1371600"/>
            <a:ext cx="1645920" cy="384048"/>
          </a:xfrm>
          <a:prstGeom prst="rect">
            <a:avLst/>
          </a:prstGeom>
          <a:noFill/>
        </p:spPr>
        <p:txBody>
          <a:bodyPr wrap="square" anchor="ctr" lIns="45720" rIns="45720">
            <a:spAutoFit/>
          </a:bodyPr>
          <a:lstStyle/>
          <a:p>
            <a:pPr algn="ctr"/>
            <a:r>
              <a:rPr sz="1200" b="1" i="0">
                <a:solidFill>
                  <a:srgbClr val="FFFFFF"/>
                </a:solidFill>
                <a:latin typeface="Calibri"/>
              </a:rPr>
              <a:t>Critical?</a:t>
            </a:r>
          </a:p>
        </p:txBody>
      </p:sp>
      <p:sp>
        <p:nvSpPr>
          <p:cNvPr id="15" name="Rectangle 14"/>
          <p:cNvSpPr/>
          <p:nvPr/>
        </p:nvSpPr>
        <p:spPr>
          <a:xfrm>
            <a:off x="457200" y="1755648"/>
            <a:ext cx="219456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55648"/>
            <a:ext cx="2194560" cy="384048"/>
          </a:xfrm>
          <a:prstGeom prst="rect">
            <a:avLst/>
          </a:prstGeom>
          <a:noFill/>
        </p:spPr>
        <p:txBody>
          <a:bodyPr wrap="square" anchor="ctr" lIns="45720" rIns="45720">
            <a:spAutoFit/>
          </a:bodyPr>
          <a:lstStyle/>
          <a:p>
            <a:pPr algn="ctr"/>
            <a:r>
              <a:rPr sz="1200" b="0" i="0">
                <a:solidFill>
                  <a:srgbClr val="1A1A1A"/>
                </a:solidFill>
                <a:latin typeface="Calibri"/>
              </a:rPr>
              <a:t>Cobalt</a:t>
            </a:r>
          </a:p>
        </p:txBody>
      </p:sp>
      <p:sp>
        <p:nvSpPr>
          <p:cNvPr id="17" name="Rectangle 16"/>
          <p:cNvSpPr/>
          <p:nvPr/>
        </p:nvSpPr>
        <p:spPr>
          <a:xfrm>
            <a:off x="2651760" y="1755648"/>
            <a:ext cx="274320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51760" y="1755648"/>
            <a:ext cx="2743200" cy="384048"/>
          </a:xfrm>
          <a:prstGeom prst="rect">
            <a:avLst/>
          </a:prstGeom>
          <a:noFill/>
        </p:spPr>
        <p:txBody>
          <a:bodyPr wrap="square" anchor="ctr" lIns="45720" rIns="45720">
            <a:spAutoFit/>
          </a:bodyPr>
          <a:lstStyle/>
          <a:p>
            <a:pPr algn="ctr"/>
            <a:r>
              <a:rPr sz="1200" b="0" i="0">
                <a:solidFill>
                  <a:srgbClr val="1A1A1A"/>
                </a:solidFill>
                <a:latin typeface="Calibri"/>
              </a:rPr>
              <a:t>DRC</a:t>
            </a:r>
          </a:p>
        </p:txBody>
      </p:sp>
      <p:sp>
        <p:nvSpPr>
          <p:cNvPr id="19" name="Rectangle 18"/>
          <p:cNvSpPr/>
          <p:nvPr/>
        </p:nvSpPr>
        <p:spPr>
          <a:xfrm>
            <a:off x="5394960" y="1755648"/>
            <a:ext cx="182880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0" y="1755648"/>
            <a:ext cx="1828800" cy="384048"/>
          </a:xfrm>
          <a:prstGeom prst="rect">
            <a:avLst/>
          </a:prstGeom>
          <a:noFill/>
        </p:spPr>
        <p:txBody>
          <a:bodyPr wrap="square" anchor="ctr" lIns="45720" rIns="45720">
            <a:spAutoFit/>
          </a:bodyPr>
          <a:lstStyle/>
          <a:p>
            <a:pPr algn="ctr"/>
            <a:r>
              <a:rPr sz="1200" b="0" i="0">
                <a:solidFill>
                  <a:srgbClr val="1A1A1A"/>
                </a:solidFill>
                <a:latin typeface="Calibri"/>
              </a:rPr>
              <a:t>74%</a:t>
            </a:r>
          </a:p>
        </p:txBody>
      </p:sp>
      <p:sp>
        <p:nvSpPr>
          <p:cNvPr id="21" name="Rectangle 20"/>
          <p:cNvSpPr/>
          <p:nvPr/>
        </p:nvSpPr>
        <p:spPr>
          <a:xfrm>
            <a:off x="7223760" y="1755648"/>
            <a:ext cx="256032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0" y="1755648"/>
            <a:ext cx="2560320" cy="384048"/>
          </a:xfrm>
          <a:prstGeom prst="rect">
            <a:avLst/>
          </a:prstGeom>
          <a:noFill/>
        </p:spPr>
        <p:txBody>
          <a:bodyPr wrap="square" anchor="ctr" lIns="45720" rIns="45720">
            <a:spAutoFit/>
          </a:bodyPr>
          <a:lstStyle/>
          <a:p>
            <a:pPr algn="ctr"/>
            <a:r>
              <a:rPr sz="1200" b="0" i="0">
                <a:solidFill>
                  <a:srgbClr val="1A1A1A"/>
                </a:solidFill>
                <a:latin typeface="Calibri"/>
              </a:rPr>
              <a:t>All regions</a:t>
            </a:r>
          </a:p>
        </p:txBody>
      </p:sp>
      <p:sp>
        <p:nvSpPr>
          <p:cNvPr id="23" name="Rectangle 22"/>
          <p:cNvSpPr/>
          <p:nvPr/>
        </p:nvSpPr>
        <p:spPr>
          <a:xfrm>
            <a:off x="9784080" y="1755648"/>
            <a:ext cx="164592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0" y="1755648"/>
            <a:ext cx="1645920" cy="384048"/>
          </a:xfrm>
          <a:prstGeom prst="rect">
            <a:avLst/>
          </a:prstGeom>
          <a:noFill/>
        </p:spPr>
        <p:txBody>
          <a:bodyPr wrap="square" anchor="ctr" lIns="45720" rIns="45720">
            <a:spAutoFit/>
          </a:bodyPr>
          <a:lstStyle/>
          <a:p>
            <a:pPr algn="ctr"/>
            <a:r>
              <a:rPr sz="1200" b="0" i="0">
                <a:solidFill>
                  <a:srgbClr val="1A1A1A"/>
                </a:solidFill>
                <a:latin typeface="Calibri"/>
              </a:rPr>
              <a:t>Yes</a:t>
            </a:r>
          </a:p>
        </p:txBody>
      </p:sp>
      <p:sp>
        <p:nvSpPr>
          <p:cNvPr id="25" name="Rectangle 24"/>
          <p:cNvSpPr/>
          <p:nvPr/>
        </p:nvSpPr>
        <p:spPr>
          <a:xfrm>
            <a:off x="457200" y="2139696"/>
            <a:ext cx="219456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2139696"/>
            <a:ext cx="2194560" cy="384048"/>
          </a:xfrm>
          <a:prstGeom prst="rect">
            <a:avLst/>
          </a:prstGeom>
          <a:noFill/>
        </p:spPr>
        <p:txBody>
          <a:bodyPr wrap="square" anchor="ctr" lIns="45720" rIns="45720">
            <a:spAutoFit/>
          </a:bodyPr>
          <a:lstStyle/>
          <a:p>
            <a:pPr algn="ctr"/>
            <a:r>
              <a:rPr sz="1200" b="0" i="0">
                <a:solidFill>
                  <a:srgbClr val="1A1A1A"/>
                </a:solidFill>
                <a:latin typeface="Calibri"/>
              </a:rPr>
              <a:t>Nickel</a:t>
            </a:r>
          </a:p>
        </p:txBody>
      </p:sp>
      <p:sp>
        <p:nvSpPr>
          <p:cNvPr id="27" name="Rectangle 26"/>
          <p:cNvSpPr/>
          <p:nvPr/>
        </p:nvSpPr>
        <p:spPr>
          <a:xfrm>
            <a:off x="2651760" y="2139696"/>
            <a:ext cx="274320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51760" y="2139696"/>
            <a:ext cx="2743200" cy="384048"/>
          </a:xfrm>
          <a:prstGeom prst="rect">
            <a:avLst/>
          </a:prstGeom>
          <a:noFill/>
        </p:spPr>
        <p:txBody>
          <a:bodyPr wrap="square" anchor="ctr" lIns="45720" rIns="45720">
            <a:spAutoFit/>
          </a:bodyPr>
          <a:lstStyle/>
          <a:p>
            <a:pPr algn="ctr"/>
            <a:r>
              <a:rPr sz="1200" b="0" i="0">
                <a:solidFill>
                  <a:srgbClr val="1A1A1A"/>
                </a:solidFill>
                <a:latin typeface="Calibri"/>
              </a:rPr>
              <a:t>Indonesia</a:t>
            </a:r>
          </a:p>
        </p:txBody>
      </p:sp>
      <p:sp>
        <p:nvSpPr>
          <p:cNvPr id="29" name="Rectangle 28"/>
          <p:cNvSpPr/>
          <p:nvPr/>
        </p:nvSpPr>
        <p:spPr>
          <a:xfrm>
            <a:off x="5394960" y="2139696"/>
            <a:ext cx="182880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94960" y="2139696"/>
            <a:ext cx="1828800" cy="384048"/>
          </a:xfrm>
          <a:prstGeom prst="rect">
            <a:avLst/>
          </a:prstGeom>
          <a:noFill/>
        </p:spPr>
        <p:txBody>
          <a:bodyPr wrap="square" anchor="ctr" lIns="45720" rIns="45720">
            <a:spAutoFit/>
          </a:bodyPr>
          <a:lstStyle/>
          <a:p>
            <a:pPr algn="ctr"/>
            <a:r>
              <a:rPr sz="1200" b="0" i="0">
                <a:solidFill>
                  <a:srgbClr val="1A1A1A"/>
                </a:solidFill>
                <a:latin typeface="Calibri"/>
              </a:rPr>
              <a:t>48%</a:t>
            </a:r>
          </a:p>
        </p:txBody>
      </p:sp>
      <p:sp>
        <p:nvSpPr>
          <p:cNvPr id="31" name="Rectangle 30"/>
          <p:cNvSpPr/>
          <p:nvPr/>
        </p:nvSpPr>
        <p:spPr>
          <a:xfrm>
            <a:off x="7223760" y="2139696"/>
            <a:ext cx="256032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2139696"/>
            <a:ext cx="2560320" cy="384048"/>
          </a:xfrm>
          <a:prstGeom prst="rect">
            <a:avLst/>
          </a:prstGeom>
          <a:noFill/>
        </p:spPr>
        <p:txBody>
          <a:bodyPr wrap="square" anchor="ctr" lIns="45720" rIns="45720">
            <a:spAutoFit/>
          </a:bodyPr>
          <a:lstStyle/>
          <a:p>
            <a:pPr algn="ctr"/>
            <a:r>
              <a:rPr sz="1200" b="0" i="0">
                <a:solidFill>
                  <a:srgbClr val="1A1A1A"/>
                </a:solidFill>
                <a:latin typeface="Calibri"/>
              </a:rPr>
              <a:t>All regions</a:t>
            </a:r>
          </a:p>
        </p:txBody>
      </p:sp>
      <p:sp>
        <p:nvSpPr>
          <p:cNvPr id="33" name="Rectangle 32"/>
          <p:cNvSpPr/>
          <p:nvPr/>
        </p:nvSpPr>
        <p:spPr>
          <a:xfrm>
            <a:off x="9784080" y="2139696"/>
            <a:ext cx="164592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84080" y="2139696"/>
            <a:ext cx="1645920" cy="384048"/>
          </a:xfrm>
          <a:prstGeom prst="rect">
            <a:avLst/>
          </a:prstGeom>
          <a:noFill/>
        </p:spPr>
        <p:txBody>
          <a:bodyPr wrap="square" anchor="ctr" lIns="45720" rIns="45720">
            <a:spAutoFit/>
          </a:bodyPr>
          <a:lstStyle/>
          <a:p>
            <a:pPr algn="ctr"/>
            <a:r>
              <a:rPr sz="1200" b="0" i="0">
                <a:solidFill>
                  <a:srgbClr val="1A1A1A"/>
                </a:solidFill>
                <a:latin typeface="Calibri"/>
              </a:rPr>
              <a:t>Yes</a:t>
            </a:r>
          </a:p>
        </p:txBody>
      </p:sp>
      <p:sp>
        <p:nvSpPr>
          <p:cNvPr id="35" name="Rectangle 34"/>
          <p:cNvSpPr/>
          <p:nvPr/>
        </p:nvSpPr>
        <p:spPr>
          <a:xfrm>
            <a:off x="457200" y="2523744"/>
            <a:ext cx="219456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2523744"/>
            <a:ext cx="2194560" cy="384048"/>
          </a:xfrm>
          <a:prstGeom prst="rect">
            <a:avLst/>
          </a:prstGeom>
          <a:noFill/>
        </p:spPr>
        <p:txBody>
          <a:bodyPr wrap="square" anchor="ctr" lIns="45720" rIns="45720">
            <a:spAutoFit/>
          </a:bodyPr>
          <a:lstStyle/>
          <a:p>
            <a:pPr algn="ctr"/>
            <a:r>
              <a:rPr sz="1200" b="0" i="0">
                <a:solidFill>
                  <a:srgbClr val="1A1A1A"/>
                </a:solidFill>
                <a:latin typeface="Calibri"/>
              </a:rPr>
              <a:t>Platinum</a:t>
            </a:r>
          </a:p>
        </p:txBody>
      </p:sp>
      <p:sp>
        <p:nvSpPr>
          <p:cNvPr id="37" name="Rectangle 36"/>
          <p:cNvSpPr/>
          <p:nvPr/>
        </p:nvSpPr>
        <p:spPr>
          <a:xfrm>
            <a:off x="2651760" y="2523744"/>
            <a:ext cx="274320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651760" y="2523744"/>
            <a:ext cx="2743200" cy="384048"/>
          </a:xfrm>
          <a:prstGeom prst="rect">
            <a:avLst/>
          </a:prstGeom>
          <a:noFill/>
        </p:spPr>
        <p:txBody>
          <a:bodyPr wrap="square" anchor="ctr" lIns="45720" rIns="45720">
            <a:spAutoFit/>
          </a:bodyPr>
          <a:lstStyle/>
          <a:p>
            <a:pPr algn="ctr"/>
            <a:r>
              <a:rPr sz="1200" b="0" i="0">
                <a:solidFill>
                  <a:srgbClr val="1A1A1A"/>
                </a:solidFill>
                <a:latin typeface="Calibri"/>
              </a:rPr>
              <a:t>South Africa</a:t>
            </a:r>
          </a:p>
        </p:txBody>
      </p:sp>
      <p:sp>
        <p:nvSpPr>
          <p:cNvPr id="39" name="Rectangle 38"/>
          <p:cNvSpPr/>
          <p:nvPr/>
        </p:nvSpPr>
        <p:spPr>
          <a:xfrm>
            <a:off x="5394960" y="2523744"/>
            <a:ext cx="182880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94960" y="2523744"/>
            <a:ext cx="1828800" cy="384048"/>
          </a:xfrm>
          <a:prstGeom prst="rect">
            <a:avLst/>
          </a:prstGeom>
          <a:noFill/>
        </p:spPr>
        <p:txBody>
          <a:bodyPr wrap="square" anchor="ctr" lIns="45720" rIns="45720">
            <a:spAutoFit/>
          </a:bodyPr>
          <a:lstStyle/>
          <a:p>
            <a:pPr algn="ctr"/>
            <a:r>
              <a:rPr sz="1200" b="0" i="0">
                <a:solidFill>
                  <a:srgbClr val="1A1A1A"/>
                </a:solidFill>
                <a:latin typeface="Calibri"/>
              </a:rPr>
              <a:t>72%</a:t>
            </a:r>
          </a:p>
        </p:txBody>
      </p:sp>
      <p:sp>
        <p:nvSpPr>
          <p:cNvPr id="41" name="Rectangle 40"/>
          <p:cNvSpPr/>
          <p:nvPr/>
        </p:nvSpPr>
        <p:spPr>
          <a:xfrm>
            <a:off x="7223760" y="2523744"/>
            <a:ext cx="256032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23760" y="2523744"/>
            <a:ext cx="2560320" cy="384048"/>
          </a:xfrm>
          <a:prstGeom prst="rect">
            <a:avLst/>
          </a:prstGeom>
          <a:noFill/>
        </p:spPr>
        <p:txBody>
          <a:bodyPr wrap="square" anchor="ctr" lIns="45720" rIns="45720">
            <a:spAutoFit/>
          </a:bodyPr>
          <a:lstStyle/>
          <a:p>
            <a:pPr algn="ctr"/>
            <a:r>
              <a:rPr sz="1200" b="0" i="0">
                <a:solidFill>
                  <a:srgbClr val="1A1A1A"/>
                </a:solidFill>
                <a:latin typeface="Calibri"/>
              </a:rPr>
              <a:t>—</a:t>
            </a:r>
          </a:p>
        </p:txBody>
      </p:sp>
      <p:sp>
        <p:nvSpPr>
          <p:cNvPr id="43" name="Rectangle 42"/>
          <p:cNvSpPr/>
          <p:nvPr/>
        </p:nvSpPr>
        <p:spPr>
          <a:xfrm>
            <a:off x="9784080" y="2523744"/>
            <a:ext cx="164592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784080" y="2523744"/>
            <a:ext cx="1645920" cy="384048"/>
          </a:xfrm>
          <a:prstGeom prst="rect">
            <a:avLst/>
          </a:prstGeom>
          <a:noFill/>
        </p:spPr>
        <p:txBody>
          <a:bodyPr wrap="square" anchor="ctr" lIns="45720" rIns="45720">
            <a:spAutoFit/>
          </a:bodyPr>
          <a:lstStyle/>
          <a:p>
            <a:pPr algn="ctr"/>
            <a:r>
              <a:rPr sz="1200" b="0" i="0">
                <a:solidFill>
                  <a:srgbClr val="1A1A1A"/>
                </a:solidFill>
                <a:latin typeface="Calibri"/>
              </a:rPr>
              <a:t>Yes</a:t>
            </a:r>
          </a:p>
        </p:txBody>
      </p:sp>
      <p:sp>
        <p:nvSpPr>
          <p:cNvPr id="45" name="Rectangle 44"/>
          <p:cNvSpPr/>
          <p:nvPr/>
        </p:nvSpPr>
        <p:spPr>
          <a:xfrm>
            <a:off x="457200" y="2907792"/>
            <a:ext cx="219456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2907792"/>
            <a:ext cx="2194560" cy="384048"/>
          </a:xfrm>
          <a:prstGeom prst="rect">
            <a:avLst/>
          </a:prstGeom>
          <a:noFill/>
        </p:spPr>
        <p:txBody>
          <a:bodyPr wrap="square" anchor="ctr" lIns="45720" rIns="45720">
            <a:spAutoFit/>
          </a:bodyPr>
          <a:lstStyle/>
          <a:p>
            <a:pPr algn="ctr"/>
            <a:r>
              <a:rPr sz="1200" b="0" i="0">
                <a:solidFill>
                  <a:srgbClr val="1A1A1A"/>
                </a:solidFill>
                <a:latin typeface="Calibri"/>
              </a:rPr>
              <a:t>Manganese alloys</a:t>
            </a:r>
          </a:p>
        </p:txBody>
      </p:sp>
      <p:sp>
        <p:nvSpPr>
          <p:cNvPr id="47" name="Rectangle 46"/>
          <p:cNvSpPr/>
          <p:nvPr/>
        </p:nvSpPr>
        <p:spPr>
          <a:xfrm>
            <a:off x="2651760" y="2907792"/>
            <a:ext cx="274320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651760" y="2907792"/>
            <a:ext cx="2743200" cy="384048"/>
          </a:xfrm>
          <a:prstGeom prst="rect">
            <a:avLst/>
          </a:prstGeom>
          <a:noFill/>
        </p:spPr>
        <p:txBody>
          <a:bodyPr wrap="square" anchor="ctr" lIns="45720" rIns="45720">
            <a:spAutoFit/>
          </a:bodyPr>
          <a:lstStyle/>
          <a:p>
            <a:pPr algn="ctr"/>
            <a:r>
              <a:rPr sz="1200" b="0" i="0">
                <a:solidFill>
                  <a:srgbClr val="1A1A1A"/>
                </a:solidFill>
                <a:latin typeface="Calibri"/>
              </a:rPr>
              <a:t>South Africa / Gabon</a:t>
            </a:r>
          </a:p>
        </p:txBody>
      </p:sp>
      <p:sp>
        <p:nvSpPr>
          <p:cNvPr id="49" name="Rectangle 48"/>
          <p:cNvSpPr/>
          <p:nvPr/>
        </p:nvSpPr>
        <p:spPr>
          <a:xfrm>
            <a:off x="5394960" y="2907792"/>
            <a:ext cx="182880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394960" y="2907792"/>
            <a:ext cx="1828800" cy="384048"/>
          </a:xfrm>
          <a:prstGeom prst="rect">
            <a:avLst/>
          </a:prstGeom>
          <a:noFill/>
        </p:spPr>
        <p:txBody>
          <a:bodyPr wrap="square" anchor="ctr" lIns="45720" rIns="45720">
            <a:spAutoFit/>
          </a:bodyPr>
          <a:lstStyle/>
          <a:p>
            <a:pPr algn="ctr"/>
            <a:r>
              <a:rPr sz="1200" b="0" i="0">
                <a:solidFill>
                  <a:srgbClr val="1A1A1A"/>
                </a:solidFill>
                <a:latin typeface="Calibri"/>
              </a:rPr>
              <a:t>36% + 23%</a:t>
            </a:r>
          </a:p>
        </p:txBody>
      </p:sp>
      <p:sp>
        <p:nvSpPr>
          <p:cNvPr id="51" name="Rectangle 50"/>
          <p:cNvSpPr/>
          <p:nvPr/>
        </p:nvSpPr>
        <p:spPr>
          <a:xfrm>
            <a:off x="7223760" y="2907792"/>
            <a:ext cx="256032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223760" y="2907792"/>
            <a:ext cx="2560320" cy="384048"/>
          </a:xfrm>
          <a:prstGeom prst="rect">
            <a:avLst/>
          </a:prstGeom>
          <a:noFill/>
        </p:spPr>
        <p:txBody>
          <a:bodyPr wrap="square" anchor="ctr" lIns="45720" rIns="45720">
            <a:spAutoFit/>
          </a:bodyPr>
          <a:lstStyle/>
          <a:p>
            <a:pPr algn="ctr"/>
            <a:r>
              <a:rPr sz="1200" b="0" i="0">
                <a:solidFill>
                  <a:srgbClr val="1A1A1A"/>
                </a:solidFill>
                <a:latin typeface="Calibri"/>
              </a:rPr>
              <a:t>—</a:t>
            </a:r>
          </a:p>
        </p:txBody>
      </p:sp>
      <p:sp>
        <p:nvSpPr>
          <p:cNvPr id="53" name="Rectangle 52"/>
          <p:cNvSpPr/>
          <p:nvPr/>
        </p:nvSpPr>
        <p:spPr>
          <a:xfrm>
            <a:off x="9784080" y="2907792"/>
            <a:ext cx="164592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784080" y="2907792"/>
            <a:ext cx="1645920" cy="384048"/>
          </a:xfrm>
          <a:prstGeom prst="rect">
            <a:avLst/>
          </a:prstGeom>
          <a:noFill/>
        </p:spPr>
        <p:txBody>
          <a:bodyPr wrap="square" anchor="ctr" lIns="45720" rIns="45720">
            <a:spAutoFit/>
          </a:bodyPr>
          <a:lstStyle/>
          <a:p>
            <a:pPr algn="ctr"/>
            <a:r>
              <a:rPr sz="1200" b="0" i="0">
                <a:solidFill>
                  <a:srgbClr val="1A1A1A"/>
                </a:solidFill>
                <a:latin typeface="Calibri"/>
              </a:rPr>
              <a:t>Yes</a:t>
            </a:r>
          </a:p>
        </p:txBody>
      </p:sp>
      <p:sp>
        <p:nvSpPr>
          <p:cNvPr id="55" name="Rectangle 54"/>
          <p:cNvSpPr/>
          <p:nvPr/>
        </p:nvSpPr>
        <p:spPr>
          <a:xfrm>
            <a:off x="457200" y="3291840"/>
            <a:ext cx="219456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7200" y="3291840"/>
            <a:ext cx="2194560" cy="384048"/>
          </a:xfrm>
          <a:prstGeom prst="rect">
            <a:avLst/>
          </a:prstGeom>
          <a:noFill/>
        </p:spPr>
        <p:txBody>
          <a:bodyPr wrap="square" anchor="ctr" lIns="45720" rIns="45720">
            <a:spAutoFit/>
          </a:bodyPr>
          <a:lstStyle/>
          <a:p>
            <a:pPr algn="ctr"/>
            <a:r>
              <a:rPr sz="1200" b="0" i="0">
                <a:solidFill>
                  <a:srgbClr val="1A1A1A"/>
                </a:solidFill>
                <a:latin typeface="Calibri"/>
              </a:rPr>
              <a:t>Ferrochrome</a:t>
            </a:r>
          </a:p>
        </p:txBody>
      </p:sp>
      <p:sp>
        <p:nvSpPr>
          <p:cNvPr id="57" name="Rectangle 56"/>
          <p:cNvSpPr/>
          <p:nvPr/>
        </p:nvSpPr>
        <p:spPr>
          <a:xfrm>
            <a:off x="2651760" y="3291840"/>
            <a:ext cx="274320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651760" y="3291840"/>
            <a:ext cx="2743200" cy="384048"/>
          </a:xfrm>
          <a:prstGeom prst="rect">
            <a:avLst/>
          </a:prstGeom>
          <a:noFill/>
        </p:spPr>
        <p:txBody>
          <a:bodyPr wrap="square" anchor="ctr" lIns="45720" rIns="45720">
            <a:spAutoFit/>
          </a:bodyPr>
          <a:lstStyle/>
          <a:p>
            <a:pPr algn="ctr"/>
            <a:r>
              <a:rPr sz="1200" b="0" i="0">
                <a:solidFill>
                  <a:srgbClr val="1A1A1A"/>
                </a:solidFill>
                <a:latin typeface="Calibri"/>
              </a:rPr>
              <a:t>South Africa</a:t>
            </a:r>
          </a:p>
        </p:txBody>
      </p:sp>
      <p:sp>
        <p:nvSpPr>
          <p:cNvPr id="59" name="Rectangle 58"/>
          <p:cNvSpPr/>
          <p:nvPr/>
        </p:nvSpPr>
        <p:spPr>
          <a:xfrm>
            <a:off x="5394960" y="3291840"/>
            <a:ext cx="182880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394960" y="3291840"/>
            <a:ext cx="1828800" cy="384048"/>
          </a:xfrm>
          <a:prstGeom prst="rect">
            <a:avLst/>
          </a:prstGeom>
          <a:noFill/>
        </p:spPr>
        <p:txBody>
          <a:bodyPr wrap="square" anchor="ctr" lIns="45720" rIns="45720">
            <a:spAutoFit/>
          </a:bodyPr>
          <a:lstStyle/>
          <a:p>
            <a:pPr algn="ctr"/>
            <a:r>
              <a:rPr sz="1200" b="0" i="0">
                <a:solidFill>
                  <a:srgbClr val="1A1A1A"/>
                </a:solidFill>
                <a:latin typeface="Calibri"/>
              </a:rPr>
              <a:t>44%</a:t>
            </a:r>
          </a:p>
        </p:txBody>
      </p:sp>
      <p:sp>
        <p:nvSpPr>
          <p:cNvPr id="61" name="Rectangle 60"/>
          <p:cNvSpPr/>
          <p:nvPr/>
        </p:nvSpPr>
        <p:spPr>
          <a:xfrm>
            <a:off x="7223760" y="3291840"/>
            <a:ext cx="256032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0" y="3291840"/>
            <a:ext cx="2560320" cy="384048"/>
          </a:xfrm>
          <a:prstGeom prst="rect">
            <a:avLst/>
          </a:prstGeom>
          <a:noFill/>
        </p:spPr>
        <p:txBody>
          <a:bodyPr wrap="square" anchor="ctr" lIns="45720" rIns="45720">
            <a:spAutoFit/>
          </a:bodyPr>
          <a:lstStyle/>
          <a:p>
            <a:pPr algn="ctr"/>
            <a:r>
              <a:rPr sz="1200" b="0" i="0">
                <a:solidFill>
                  <a:srgbClr val="1A1A1A"/>
                </a:solidFill>
                <a:latin typeface="Calibri"/>
              </a:rPr>
              <a:t>—</a:t>
            </a:r>
          </a:p>
        </p:txBody>
      </p:sp>
      <p:sp>
        <p:nvSpPr>
          <p:cNvPr id="63" name="Rectangle 62"/>
          <p:cNvSpPr/>
          <p:nvPr/>
        </p:nvSpPr>
        <p:spPr>
          <a:xfrm>
            <a:off x="9784080" y="3291840"/>
            <a:ext cx="164592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784080" y="3291840"/>
            <a:ext cx="1645920" cy="384048"/>
          </a:xfrm>
          <a:prstGeom prst="rect">
            <a:avLst/>
          </a:prstGeom>
          <a:noFill/>
        </p:spPr>
        <p:txBody>
          <a:bodyPr wrap="square" anchor="ctr" lIns="45720" rIns="45720">
            <a:spAutoFit/>
          </a:bodyPr>
          <a:lstStyle/>
          <a:p>
            <a:pPr algn="ctr"/>
            <a:r>
              <a:rPr sz="1200" b="0" i="0">
                <a:solidFill>
                  <a:srgbClr val="1A1A1A"/>
                </a:solidFill>
                <a:latin typeface="Calibri"/>
              </a:rPr>
              <a:t>Yes</a:t>
            </a:r>
          </a:p>
        </p:txBody>
      </p:sp>
      <p:sp>
        <p:nvSpPr>
          <p:cNvPr id="65" name="Rectangle 64"/>
          <p:cNvSpPr/>
          <p:nvPr/>
        </p:nvSpPr>
        <p:spPr>
          <a:xfrm>
            <a:off x="457200" y="3675888"/>
            <a:ext cx="219456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57200" y="3675888"/>
            <a:ext cx="2194560" cy="384048"/>
          </a:xfrm>
          <a:prstGeom prst="rect">
            <a:avLst/>
          </a:prstGeom>
          <a:noFill/>
        </p:spPr>
        <p:txBody>
          <a:bodyPr wrap="square" anchor="ctr" lIns="45720" rIns="45720">
            <a:spAutoFit/>
          </a:bodyPr>
          <a:lstStyle/>
          <a:p>
            <a:pPr algn="ctr"/>
            <a:r>
              <a:rPr sz="1200" b="0" i="0">
                <a:solidFill>
                  <a:srgbClr val="1A1A1A"/>
                </a:solidFill>
                <a:latin typeface="Calibri"/>
              </a:rPr>
              <a:t>Aluminum</a:t>
            </a:r>
          </a:p>
        </p:txBody>
      </p:sp>
      <p:sp>
        <p:nvSpPr>
          <p:cNvPr id="67" name="Rectangle 66"/>
          <p:cNvSpPr/>
          <p:nvPr/>
        </p:nvSpPr>
        <p:spPr>
          <a:xfrm>
            <a:off x="2651760" y="3675888"/>
            <a:ext cx="274320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651760" y="3675888"/>
            <a:ext cx="2743200" cy="384048"/>
          </a:xfrm>
          <a:prstGeom prst="rect">
            <a:avLst/>
          </a:prstGeom>
          <a:noFill/>
        </p:spPr>
        <p:txBody>
          <a:bodyPr wrap="square" anchor="ctr" lIns="45720" rIns="45720">
            <a:spAutoFit/>
          </a:bodyPr>
          <a:lstStyle/>
          <a:p>
            <a:pPr algn="ctr"/>
            <a:r>
              <a:rPr sz="1200" b="0" i="0">
                <a:solidFill>
                  <a:srgbClr val="1A1A1A"/>
                </a:solidFill>
                <a:latin typeface="Calibri"/>
              </a:rPr>
              <a:t>China (smelting)</a:t>
            </a:r>
          </a:p>
        </p:txBody>
      </p:sp>
      <p:sp>
        <p:nvSpPr>
          <p:cNvPr id="69" name="Rectangle 68"/>
          <p:cNvSpPr/>
          <p:nvPr/>
        </p:nvSpPr>
        <p:spPr>
          <a:xfrm>
            <a:off x="5394960" y="3675888"/>
            <a:ext cx="182880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394960" y="3675888"/>
            <a:ext cx="1828800" cy="384048"/>
          </a:xfrm>
          <a:prstGeom prst="rect">
            <a:avLst/>
          </a:prstGeom>
          <a:noFill/>
        </p:spPr>
        <p:txBody>
          <a:bodyPr wrap="square" anchor="ctr" lIns="45720" rIns="45720">
            <a:spAutoFit/>
          </a:bodyPr>
          <a:lstStyle/>
          <a:p>
            <a:pPr algn="ctr"/>
            <a:r>
              <a:rPr sz="1200" b="0" i="0">
                <a:solidFill>
                  <a:srgbClr val="1A1A1A"/>
                </a:solidFill>
                <a:latin typeface="Calibri"/>
              </a:rPr>
              <a:t>59%</a:t>
            </a:r>
          </a:p>
        </p:txBody>
      </p:sp>
      <p:sp>
        <p:nvSpPr>
          <p:cNvPr id="71" name="Rectangle 70"/>
          <p:cNvSpPr/>
          <p:nvPr/>
        </p:nvSpPr>
        <p:spPr>
          <a:xfrm>
            <a:off x="7223760" y="3675888"/>
            <a:ext cx="256032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223760" y="3675888"/>
            <a:ext cx="2560320" cy="384048"/>
          </a:xfrm>
          <a:prstGeom prst="rect">
            <a:avLst/>
          </a:prstGeom>
          <a:noFill/>
        </p:spPr>
        <p:txBody>
          <a:bodyPr wrap="square" anchor="ctr" lIns="45720" rIns="45720">
            <a:spAutoFit/>
          </a:bodyPr>
          <a:lstStyle/>
          <a:p>
            <a:pPr algn="ctr"/>
            <a:r>
              <a:rPr sz="1200" b="0" i="0">
                <a:solidFill>
                  <a:srgbClr val="1A1A1A"/>
                </a:solidFill>
                <a:latin typeface="Calibri"/>
              </a:rPr>
              <a:t>Xinjiang</a:t>
            </a:r>
          </a:p>
        </p:txBody>
      </p:sp>
      <p:sp>
        <p:nvSpPr>
          <p:cNvPr id="73" name="Rectangle 72"/>
          <p:cNvSpPr/>
          <p:nvPr/>
        </p:nvSpPr>
        <p:spPr>
          <a:xfrm>
            <a:off x="9784080" y="3675888"/>
            <a:ext cx="164592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784080" y="3675888"/>
            <a:ext cx="1645920" cy="384048"/>
          </a:xfrm>
          <a:prstGeom prst="rect">
            <a:avLst/>
          </a:prstGeom>
          <a:noFill/>
        </p:spPr>
        <p:txBody>
          <a:bodyPr wrap="square" anchor="ctr" lIns="45720" rIns="45720">
            <a:spAutoFit/>
          </a:bodyPr>
          <a:lstStyle/>
          <a:p>
            <a:pPr algn="ctr"/>
            <a:r>
              <a:rPr sz="1200" b="0" i="0">
                <a:solidFill>
                  <a:srgbClr val="1A1A1A"/>
                </a:solidFill>
                <a:latin typeface="Calibri"/>
              </a:rPr>
              <a:t>Yes</a:t>
            </a:r>
          </a:p>
        </p:txBody>
      </p:sp>
      <p:sp>
        <p:nvSpPr>
          <p:cNvPr id="75" name="Rectangle 74"/>
          <p:cNvSpPr/>
          <p:nvPr/>
        </p:nvSpPr>
        <p:spPr>
          <a:xfrm>
            <a:off x="457200" y="4059936"/>
            <a:ext cx="219456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57200" y="4059936"/>
            <a:ext cx="2194560" cy="384048"/>
          </a:xfrm>
          <a:prstGeom prst="rect">
            <a:avLst/>
          </a:prstGeom>
          <a:noFill/>
        </p:spPr>
        <p:txBody>
          <a:bodyPr wrap="square" anchor="ctr" lIns="45720" rIns="45720">
            <a:spAutoFit/>
          </a:bodyPr>
          <a:lstStyle/>
          <a:p>
            <a:pPr algn="ctr"/>
            <a:r>
              <a:rPr sz="1200" b="0" i="0">
                <a:solidFill>
                  <a:srgbClr val="1A1A1A"/>
                </a:solidFill>
                <a:latin typeface="Calibri"/>
              </a:rPr>
              <a:t>Zinc</a:t>
            </a:r>
          </a:p>
        </p:txBody>
      </p:sp>
      <p:sp>
        <p:nvSpPr>
          <p:cNvPr id="77" name="Rectangle 76"/>
          <p:cNvSpPr/>
          <p:nvPr/>
        </p:nvSpPr>
        <p:spPr>
          <a:xfrm>
            <a:off x="2651760" y="4059936"/>
            <a:ext cx="274320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651760" y="4059936"/>
            <a:ext cx="2743200" cy="384048"/>
          </a:xfrm>
          <a:prstGeom prst="rect">
            <a:avLst/>
          </a:prstGeom>
          <a:noFill/>
        </p:spPr>
        <p:txBody>
          <a:bodyPr wrap="square" anchor="ctr" lIns="45720" rIns="45720">
            <a:spAutoFit/>
          </a:bodyPr>
          <a:lstStyle/>
          <a:p>
            <a:pPr algn="ctr"/>
            <a:r>
              <a:rPr sz="1200" b="0" i="0">
                <a:solidFill>
                  <a:srgbClr val="1A1A1A"/>
                </a:solidFill>
                <a:latin typeface="Calibri"/>
              </a:rPr>
              <a:t>China</a:t>
            </a:r>
          </a:p>
        </p:txBody>
      </p:sp>
      <p:sp>
        <p:nvSpPr>
          <p:cNvPr id="79" name="Rectangle 78"/>
          <p:cNvSpPr/>
          <p:nvPr/>
        </p:nvSpPr>
        <p:spPr>
          <a:xfrm>
            <a:off x="5394960" y="4059936"/>
            <a:ext cx="182880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394960" y="4059936"/>
            <a:ext cx="1828800" cy="384048"/>
          </a:xfrm>
          <a:prstGeom prst="rect">
            <a:avLst/>
          </a:prstGeom>
          <a:noFill/>
        </p:spPr>
        <p:txBody>
          <a:bodyPr wrap="square" anchor="ctr" lIns="45720" rIns="45720">
            <a:spAutoFit/>
          </a:bodyPr>
          <a:lstStyle/>
          <a:p>
            <a:pPr algn="ctr"/>
            <a:r>
              <a:rPr sz="1200" b="0" i="0">
                <a:solidFill>
                  <a:srgbClr val="1A1A1A"/>
                </a:solidFill>
                <a:latin typeface="Calibri"/>
              </a:rPr>
              <a:t>33%</a:t>
            </a:r>
          </a:p>
        </p:txBody>
      </p:sp>
      <p:sp>
        <p:nvSpPr>
          <p:cNvPr id="81" name="Rectangle 80"/>
          <p:cNvSpPr/>
          <p:nvPr/>
        </p:nvSpPr>
        <p:spPr>
          <a:xfrm>
            <a:off x="7223760" y="4059936"/>
            <a:ext cx="256032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223760" y="4059936"/>
            <a:ext cx="2560320" cy="384048"/>
          </a:xfrm>
          <a:prstGeom prst="rect">
            <a:avLst/>
          </a:prstGeom>
          <a:noFill/>
        </p:spPr>
        <p:txBody>
          <a:bodyPr wrap="square" anchor="ctr" lIns="45720" rIns="45720">
            <a:spAutoFit/>
          </a:bodyPr>
          <a:lstStyle/>
          <a:p>
            <a:pPr algn="ctr"/>
            <a:r>
              <a:rPr sz="1200" b="0" i="0">
                <a:solidFill>
                  <a:srgbClr val="1A1A1A"/>
                </a:solidFill>
                <a:latin typeface="Calibri"/>
              </a:rPr>
              <a:t>Xinjiang</a:t>
            </a:r>
          </a:p>
        </p:txBody>
      </p:sp>
      <p:sp>
        <p:nvSpPr>
          <p:cNvPr id="83" name="Rectangle 82"/>
          <p:cNvSpPr/>
          <p:nvPr/>
        </p:nvSpPr>
        <p:spPr>
          <a:xfrm>
            <a:off x="9784080" y="4059936"/>
            <a:ext cx="1645920" cy="384048"/>
          </a:xfrm>
          <a:prstGeom prst="rect">
            <a:avLst/>
          </a:prstGeom>
          <a:solidFill>
            <a:srgbClr val="E0F2F1"/>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784080" y="4059936"/>
            <a:ext cx="1645920" cy="384048"/>
          </a:xfrm>
          <a:prstGeom prst="rect">
            <a:avLst/>
          </a:prstGeom>
          <a:noFill/>
        </p:spPr>
        <p:txBody>
          <a:bodyPr wrap="square" anchor="ctr" lIns="45720" rIns="45720">
            <a:spAutoFit/>
          </a:bodyPr>
          <a:lstStyle/>
          <a:p>
            <a:pPr algn="ctr"/>
            <a:r>
              <a:rPr sz="1200" b="0" i="0">
                <a:solidFill>
                  <a:srgbClr val="1A1A1A"/>
                </a:solidFill>
                <a:latin typeface="Calibri"/>
              </a:rPr>
              <a:t>Yes</a:t>
            </a:r>
          </a:p>
        </p:txBody>
      </p:sp>
      <p:sp>
        <p:nvSpPr>
          <p:cNvPr id="85" name="Rectangle 84"/>
          <p:cNvSpPr/>
          <p:nvPr/>
        </p:nvSpPr>
        <p:spPr>
          <a:xfrm>
            <a:off x="457200" y="4443984"/>
            <a:ext cx="219456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57200" y="4443984"/>
            <a:ext cx="2194560" cy="384048"/>
          </a:xfrm>
          <a:prstGeom prst="rect">
            <a:avLst/>
          </a:prstGeom>
          <a:noFill/>
        </p:spPr>
        <p:txBody>
          <a:bodyPr wrap="square" anchor="ctr" lIns="45720" rIns="45720">
            <a:spAutoFit/>
          </a:bodyPr>
          <a:lstStyle/>
          <a:p>
            <a:pPr algn="ctr"/>
            <a:r>
              <a:rPr sz="1200" b="0" i="0">
                <a:solidFill>
                  <a:srgbClr val="1A1A1A"/>
                </a:solidFill>
                <a:latin typeface="Calibri"/>
              </a:rPr>
              <a:t>Copper</a:t>
            </a:r>
          </a:p>
        </p:txBody>
      </p:sp>
      <p:sp>
        <p:nvSpPr>
          <p:cNvPr id="87" name="Rectangle 86"/>
          <p:cNvSpPr/>
          <p:nvPr/>
        </p:nvSpPr>
        <p:spPr>
          <a:xfrm>
            <a:off x="2651760" y="4443984"/>
            <a:ext cx="274320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651760" y="4443984"/>
            <a:ext cx="2743200" cy="384048"/>
          </a:xfrm>
          <a:prstGeom prst="rect">
            <a:avLst/>
          </a:prstGeom>
          <a:noFill/>
        </p:spPr>
        <p:txBody>
          <a:bodyPr wrap="square" anchor="ctr" lIns="45720" rIns="45720">
            <a:spAutoFit/>
          </a:bodyPr>
          <a:lstStyle/>
          <a:p>
            <a:pPr algn="ctr"/>
            <a:r>
              <a:rPr sz="1200" b="0" i="0">
                <a:solidFill>
                  <a:srgbClr val="1A1A1A"/>
                </a:solidFill>
                <a:latin typeface="Calibri"/>
              </a:rPr>
              <a:t>Chile / Peru / DRC</a:t>
            </a:r>
          </a:p>
        </p:txBody>
      </p:sp>
      <p:sp>
        <p:nvSpPr>
          <p:cNvPr id="89" name="Rectangle 88"/>
          <p:cNvSpPr/>
          <p:nvPr/>
        </p:nvSpPr>
        <p:spPr>
          <a:xfrm>
            <a:off x="5394960" y="4443984"/>
            <a:ext cx="182880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394960" y="4443984"/>
            <a:ext cx="1828800" cy="384048"/>
          </a:xfrm>
          <a:prstGeom prst="rect">
            <a:avLst/>
          </a:prstGeom>
          <a:noFill/>
        </p:spPr>
        <p:txBody>
          <a:bodyPr wrap="square" anchor="ctr" lIns="45720" rIns="45720">
            <a:spAutoFit/>
          </a:bodyPr>
          <a:lstStyle/>
          <a:p>
            <a:pPr algn="ctr"/>
            <a:r>
              <a:rPr sz="1200" b="0" i="0">
                <a:solidFill>
                  <a:srgbClr val="1A1A1A"/>
                </a:solidFill>
                <a:latin typeface="Calibri"/>
              </a:rPr>
              <a:t>23 + 10 + 13%</a:t>
            </a:r>
          </a:p>
        </p:txBody>
      </p:sp>
      <p:sp>
        <p:nvSpPr>
          <p:cNvPr id="91" name="Rectangle 90"/>
          <p:cNvSpPr/>
          <p:nvPr/>
        </p:nvSpPr>
        <p:spPr>
          <a:xfrm>
            <a:off x="7223760" y="4443984"/>
            <a:ext cx="256032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223760" y="4443984"/>
            <a:ext cx="2560320" cy="384048"/>
          </a:xfrm>
          <a:prstGeom prst="rect">
            <a:avLst/>
          </a:prstGeom>
          <a:noFill/>
        </p:spPr>
        <p:txBody>
          <a:bodyPr wrap="square" anchor="ctr" lIns="45720" rIns="45720">
            <a:spAutoFit/>
          </a:bodyPr>
          <a:lstStyle/>
          <a:p>
            <a:pPr algn="ctr"/>
            <a:r>
              <a:rPr sz="1200" b="0" i="0">
                <a:solidFill>
                  <a:srgbClr val="1A1A1A"/>
                </a:solidFill>
                <a:latin typeface="Calibri"/>
              </a:rPr>
              <a:t>DRC: All regions</a:t>
            </a:r>
          </a:p>
        </p:txBody>
      </p:sp>
      <p:sp>
        <p:nvSpPr>
          <p:cNvPr id="93" name="Rectangle 92"/>
          <p:cNvSpPr/>
          <p:nvPr/>
        </p:nvSpPr>
        <p:spPr>
          <a:xfrm>
            <a:off x="9784080" y="4443984"/>
            <a:ext cx="1645920" cy="384048"/>
          </a:xfrm>
          <a:prstGeom prst="rect">
            <a:avLst/>
          </a:prstGeom>
          <a:solidFill>
            <a:srgbClr val="FFFFFF"/>
          </a:solidFill>
          <a:ln>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9784080" y="4443984"/>
            <a:ext cx="1645920" cy="384048"/>
          </a:xfrm>
          <a:prstGeom prst="rect">
            <a:avLst/>
          </a:prstGeom>
          <a:noFill/>
        </p:spPr>
        <p:txBody>
          <a:bodyPr wrap="square" anchor="ctr" lIns="45720" rIns="45720">
            <a:spAutoFit/>
          </a:bodyPr>
          <a:lstStyle/>
          <a:p>
            <a:pPr algn="ctr"/>
            <a:r>
              <a:rPr sz="1200" b="0" i="0">
                <a:solidFill>
                  <a:srgbClr val="1A1A1A"/>
                </a:solidFill>
                <a:latin typeface="Calibri"/>
              </a:rPr>
              <a:t>—</a:t>
            </a:r>
          </a:p>
        </p:txBody>
      </p:sp>
      <p:sp>
        <p:nvSpPr>
          <p:cNvPr id="95" name="Rectangle 94"/>
          <p:cNvSpPr/>
          <p:nvPr/>
        </p:nvSpPr>
        <p:spPr>
          <a:xfrm>
            <a:off x="457200" y="4937760"/>
            <a:ext cx="11247120" cy="914400"/>
          </a:xfrm>
          <a:prstGeom prst="rect">
            <a:avLst/>
          </a:prstGeom>
          <a:solidFill>
            <a:srgbClr val="00A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40080" y="5074920"/>
            <a:ext cx="10881360" cy="640080"/>
          </a:xfrm>
          <a:prstGeom prst="rect">
            <a:avLst/>
          </a:prstGeom>
          <a:noFill/>
        </p:spPr>
        <p:txBody>
          <a:bodyPr wrap="square" anchor="ctr" lIns="45720" rIns="45720">
            <a:spAutoFit/>
          </a:bodyPr>
          <a:lstStyle/>
          <a:p>
            <a:pPr algn="l"/>
            <a:r>
              <a:rPr sz="1300" b="1" i="0">
                <a:solidFill>
                  <a:srgbClr val="FFFFFF"/>
                </a:solidFill>
                <a:latin typeface="Calibri"/>
              </a:rPr>
              <a:t>Of the 8 USGS-Critical Minerals in Glencore's portfolio, every single one has a top-3 producer that touches the CAHRA list. The energy transition cannot be decoupled from high-risk jurisdictions — managing environmental risk in those countries is non-optional.</a:t>
            </a:r>
          </a:p>
        </p:txBody>
      </p:sp>
      <p:sp>
        <p:nvSpPr>
          <p:cNvPr id="97" name="TextBox 96"/>
          <p:cNvSpPr txBox="1"/>
          <p:nvPr/>
        </p:nvSpPr>
        <p:spPr>
          <a:xfrm>
            <a:off x="457200" y="5989320"/>
            <a:ext cx="11247120" cy="320040"/>
          </a:xfrm>
          <a:prstGeom prst="rect">
            <a:avLst/>
          </a:prstGeom>
          <a:noFill/>
        </p:spPr>
        <p:txBody>
          <a:bodyPr wrap="square" anchor="t" lIns="45720" rIns="45720">
            <a:spAutoFit/>
          </a:bodyPr>
          <a:lstStyle/>
          <a:p>
            <a:pPr algn="l"/>
            <a:r>
              <a:rPr sz="900" b="0" i="1">
                <a:solidFill>
                  <a:srgbClr val="555555"/>
                </a:solidFill>
                <a:latin typeface="Calibri"/>
              </a:rPr>
              <a:t>Sources: USGS MCS 2024; USGS 2022 Critical Minerals List (usgs.gov/news/national-news-release/us-geological-survey-releases-2022-list-critical-minerals); Glencore CAHRA List 2025 (updated 27.02.2025).</a:t>
            </a:r>
          </a:p>
        </p:txBody>
      </p:sp>
      <p:sp>
        <p:nvSpPr>
          <p:cNvPr id="98" name="TextBox 97"/>
          <p:cNvSpPr txBox="1"/>
          <p:nvPr/>
        </p:nvSpPr>
        <p:spPr>
          <a:xfrm>
            <a:off x="457200" y="6446520"/>
            <a:ext cx="7315200" cy="320040"/>
          </a:xfrm>
          <a:prstGeom prst="rect">
            <a:avLst/>
          </a:prstGeom>
          <a:noFill/>
        </p:spPr>
        <p:txBody>
          <a:bodyPr wrap="square" anchor="t" lIns="45720" rIns="45720">
            <a:spAutoFit/>
          </a:bodyPr>
          <a:lstStyle/>
          <a:p>
            <a:pPr algn="l"/>
            <a:r>
              <a:rPr sz="900" b="0" i="1">
                <a:solidFill>
                  <a:srgbClr val="555555"/>
                </a:solidFill>
                <a:latin typeface="Calibri"/>
              </a:rPr>
              <a:t>Glencore × NYU SPS Center for Global Affairs Consulting Practicum</a:t>
            </a:r>
          </a:p>
        </p:txBody>
      </p:sp>
      <p:sp>
        <p:nvSpPr>
          <p:cNvPr id="99" name="TextBox 98"/>
          <p:cNvSpPr txBox="1"/>
          <p:nvPr/>
        </p:nvSpPr>
        <p:spPr>
          <a:xfrm>
            <a:off x="10515600" y="6446520"/>
            <a:ext cx="1188720" cy="320040"/>
          </a:xfrm>
          <a:prstGeom prst="rect">
            <a:avLst/>
          </a:prstGeom>
          <a:noFill/>
        </p:spPr>
        <p:txBody>
          <a:bodyPr wrap="square" anchor="t" lIns="45720" rIns="45720">
            <a:spAutoFit/>
          </a:bodyPr>
          <a:lstStyle/>
          <a:p>
            <a:pPr algn="r"/>
            <a:r>
              <a:rPr sz="900" b="0" i="0">
                <a:solidFill>
                  <a:srgbClr val="555555"/>
                </a:solidFill>
                <a:latin typeface="Calibri"/>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00A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548640"/>
          </a:xfrm>
          <a:prstGeom prst="rect">
            <a:avLst/>
          </a:prstGeom>
          <a:noFill/>
        </p:spPr>
        <p:txBody>
          <a:bodyPr wrap="square" anchor="t" lIns="45720" rIns="45720">
            <a:spAutoFit/>
          </a:bodyPr>
          <a:lstStyle/>
          <a:p>
            <a:pPr algn="l"/>
            <a:r>
              <a:rPr sz="2600" b="1" i="0">
                <a:solidFill>
                  <a:srgbClr val="005F73"/>
                </a:solidFill>
                <a:latin typeface="Calibri"/>
              </a:rPr>
              <a:t>The tool</a:t>
            </a:r>
          </a:p>
        </p:txBody>
      </p:sp>
      <p:sp>
        <p:nvSpPr>
          <p:cNvPr id="4" name="TextBox 3"/>
          <p:cNvSpPr txBox="1"/>
          <p:nvPr/>
        </p:nvSpPr>
        <p:spPr>
          <a:xfrm>
            <a:off x="457200" y="777240"/>
            <a:ext cx="11247120" cy="365760"/>
          </a:xfrm>
          <a:prstGeom prst="rect">
            <a:avLst/>
          </a:prstGeom>
          <a:noFill/>
        </p:spPr>
        <p:txBody>
          <a:bodyPr wrap="square" anchor="t" lIns="45720" rIns="45720">
            <a:spAutoFit/>
          </a:bodyPr>
          <a:lstStyle/>
          <a:p>
            <a:pPr algn="l"/>
            <a:r>
              <a:rPr sz="1400" b="0" i="1">
                <a:solidFill>
                  <a:srgbClr val="555555"/>
                </a:solidFill>
                <a:latin typeface="Calibri"/>
              </a:rPr>
              <a:t>Pivot-style filter → ranked risks · Likelihood × Severity heatmap · drill-down audit trail</a:t>
            </a:r>
          </a:p>
        </p:txBody>
      </p:sp>
      <p:pic>
        <p:nvPicPr>
          <p:cNvPr id="5" name="Picture 4" descr="01_dashboard.png"/>
          <p:cNvPicPr>
            <a:picLocks noChangeAspect="1"/>
          </p:cNvPicPr>
          <p:nvPr/>
        </p:nvPicPr>
        <p:blipFill>
          <a:blip r:embed="rId2"/>
          <a:stretch>
            <a:fillRect/>
          </a:stretch>
        </p:blipFill>
        <p:spPr>
          <a:xfrm>
            <a:off x="365760" y="1188720"/>
            <a:ext cx="7315200" cy="5029200"/>
          </a:xfrm>
          <a:prstGeom prst="rect">
            <a:avLst/>
          </a:prstGeom>
        </p:spPr>
      </p:pic>
      <p:sp>
        <p:nvSpPr>
          <p:cNvPr id="6" name="TextBox 5"/>
          <p:cNvSpPr txBox="1"/>
          <p:nvPr/>
        </p:nvSpPr>
        <p:spPr>
          <a:xfrm>
            <a:off x="7315200" y="1280160"/>
            <a:ext cx="4480560" cy="365760"/>
          </a:xfrm>
          <a:prstGeom prst="rect">
            <a:avLst/>
          </a:prstGeom>
          <a:noFill/>
        </p:spPr>
        <p:txBody>
          <a:bodyPr wrap="square" anchor="t" lIns="45720" rIns="45720">
            <a:spAutoFit/>
          </a:bodyPr>
          <a:lstStyle/>
          <a:p>
            <a:pPr algn="l"/>
            <a:r>
              <a:rPr sz="1600" b="1" i="0">
                <a:solidFill>
                  <a:srgbClr val="005F73"/>
                </a:solidFill>
                <a:latin typeface="Calibri"/>
              </a:rPr>
              <a:t>What it does</a:t>
            </a:r>
          </a:p>
        </p:txBody>
      </p:sp>
      <p:sp>
        <p:nvSpPr>
          <p:cNvPr id="7" name="TextBox 6"/>
          <p:cNvSpPr txBox="1"/>
          <p:nvPr/>
        </p:nvSpPr>
        <p:spPr>
          <a:xfrm>
            <a:off x="7315200" y="1691640"/>
            <a:ext cx="4480560" cy="4114800"/>
          </a:xfrm>
          <a:prstGeom prst="rect">
            <a:avLst/>
          </a:prstGeom>
          <a:noFill/>
        </p:spPr>
        <p:txBody>
          <a:bodyPr wrap="square">
            <a:spAutoFit/>
          </a:bodyPr>
          <a:lstStyle/>
          <a:p>
            <a:pPr algn="l">
              <a:lnSpc>
                <a:spcPct val="118000"/>
              </a:lnSpc>
            </a:pPr>
            <a:r>
              <a:rPr sz="1100" b="0">
                <a:solidFill>
                  <a:srgbClr val="1A1A1A"/>
                </a:solidFill>
                <a:latin typeface="Calibri"/>
              </a:rPr>
              <a:t>• Filters: commodity, country, process, risk type — top producers surfaced first</a:t>
            </a:r>
          </a:p>
          <a:p>
            <a:pPr algn="l">
              <a:lnSpc>
                <a:spcPct val="118000"/>
              </a:lnSpc>
            </a:pPr>
            <a:r>
              <a:rPr sz="1100" b="0">
                <a:solidFill>
                  <a:srgbClr val="1A1A1A"/>
                </a:solidFill>
                <a:latin typeface="Calibri"/>
              </a:rPr>
              <a:t>• 8 priority risks (15 total) scored as Likelihood × Severity = Overall (1–25)</a:t>
            </a:r>
          </a:p>
          <a:p>
            <a:pPr algn="l">
              <a:lnSpc>
                <a:spcPct val="118000"/>
              </a:lnSpc>
            </a:pPr>
            <a:r>
              <a:rPr sz="1100" b="0">
                <a:solidFill>
                  <a:srgbClr val="1A1A1A"/>
                </a:solidFill>
                <a:latin typeface="Calibri"/>
              </a:rPr>
              <a:t>• Bucketed Low / Moderate / High / Critical with consistent palette across the table, heatmap, choropleth, and Excel companion</a:t>
            </a:r>
          </a:p>
          <a:p>
            <a:pPr algn="l">
              <a:lnSpc>
                <a:spcPct val="118000"/>
              </a:lnSpc>
            </a:pPr>
            <a:r>
              <a:rPr sz="1100" b="0">
                <a:solidFill>
                  <a:srgbClr val="1A1A1A"/>
                </a:solidFill>
                <a:latin typeface="Calibri"/>
              </a:rPr>
              <a:t>• Drill-down panel exposes raw indicator + source URL for every score → auditable for CSRD / CSDDD</a:t>
            </a:r>
          </a:p>
          <a:p>
            <a:pPr algn="l">
              <a:lnSpc>
                <a:spcPct val="118000"/>
              </a:lnSpc>
            </a:pPr>
            <a:r>
              <a:rPr sz="1100" b="0">
                <a:solidFill>
                  <a:srgbClr val="1A1A1A"/>
                </a:solidFill>
                <a:latin typeface="Calibri"/>
              </a:rPr>
              <a:t>• 8 tabs: Dashboard · Map · Comparative Analysis · Risk Library · SCDD Tiers · User Guide · Methodology · Data Sources</a:t>
            </a:r>
          </a:p>
        </p:txBody>
      </p:sp>
      <p:sp>
        <p:nvSpPr>
          <p:cNvPr id="8" name="TextBox 7"/>
          <p:cNvSpPr txBox="1"/>
          <p:nvPr/>
        </p:nvSpPr>
        <p:spPr>
          <a:xfrm>
            <a:off x="457200" y="6035040"/>
            <a:ext cx="11247120" cy="274320"/>
          </a:xfrm>
          <a:prstGeom prst="rect">
            <a:avLst/>
          </a:prstGeom>
          <a:noFill/>
        </p:spPr>
        <p:txBody>
          <a:bodyPr wrap="square" anchor="t" lIns="45720" rIns="45720">
            <a:spAutoFit/>
          </a:bodyPr>
          <a:lstStyle/>
          <a:p>
            <a:pPr algn="l"/>
            <a:r>
              <a:rPr sz="900" b="0" i="1">
                <a:solidFill>
                  <a:srgbClr val="555555"/>
                </a:solidFill>
                <a:latin typeface="Calibri"/>
              </a:rPr>
              <a:t>Live tool: streamlit.app  ·  Repo: github.com/mnmarkovitz/glencore_enviro_risk_tool</a:t>
            </a:r>
          </a:p>
        </p:txBody>
      </p:sp>
      <p:sp>
        <p:nvSpPr>
          <p:cNvPr id="9" name="TextBox 8"/>
          <p:cNvSpPr txBox="1"/>
          <p:nvPr/>
        </p:nvSpPr>
        <p:spPr>
          <a:xfrm>
            <a:off x="457200" y="6446520"/>
            <a:ext cx="7315200" cy="320040"/>
          </a:xfrm>
          <a:prstGeom prst="rect">
            <a:avLst/>
          </a:prstGeom>
          <a:noFill/>
        </p:spPr>
        <p:txBody>
          <a:bodyPr wrap="square" anchor="t" lIns="45720" rIns="45720">
            <a:spAutoFit/>
          </a:bodyPr>
          <a:lstStyle/>
          <a:p>
            <a:pPr algn="l"/>
            <a:r>
              <a:rPr sz="900" b="0" i="1">
                <a:solidFill>
                  <a:srgbClr val="555555"/>
                </a:solidFill>
                <a:latin typeface="Calibri"/>
              </a:rPr>
              <a:t>Glencore × NYU SPS Center for Global Affairs Consulting Practicum</a:t>
            </a:r>
          </a:p>
        </p:txBody>
      </p:sp>
      <p:sp>
        <p:nvSpPr>
          <p:cNvPr id="10" name="TextBox 9"/>
          <p:cNvSpPr txBox="1"/>
          <p:nvPr/>
        </p:nvSpPr>
        <p:spPr>
          <a:xfrm>
            <a:off x="10515600" y="6446520"/>
            <a:ext cx="1188720" cy="320040"/>
          </a:xfrm>
          <a:prstGeom prst="rect">
            <a:avLst/>
          </a:prstGeom>
          <a:noFill/>
        </p:spPr>
        <p:txBody>
          <a:bodyPr wrap="square" anchor="t" lIns="45720" rIns="45720">
            <a:spAutoFit/>
          </a:bodyPr>
          <a:lstStyle/>
          <a:p>
            <a:pPr algn="r"/>
            <a:r>
              <a:rPr sz="900" b="0" i="0">
                <a:solidFill>
                  <a:srgbClr val="555555"/>
                </a:solidFill>
                <a:latin typeface="Calibri"/>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00A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548640"/>
          </a:xfrm>
          <a:prstGeom prst="rect">
            <a:avLst/>
          </a:prstGeom>
          <a:noFill/>
        </p:spPr>
        <p:txBody>
          <a:bodyPr wrap="square" anchor="t" lIns="45720" rIns="45720">
            <a:spAutoFit/>
          </a:bodyPr>
          <a:lstStyle/>
          <a:p>
            <a:pPr algn="l"/>
            <a:r>
              <a:rPr sz="2600" b="1" i="0">
                <a:solidFill>
                  <a:srgbClr val="005F73"/>
                </a:solidFill>
                <a:latin typeface="Calibri"/>
              </a:rPr>
              <a:t>Methodology</a:t>
            </a:r>
          </a:p>
        </p:txBody>
      </p:sp>
      <p:sp>
        <p:nvSpPr>
          <p:cNvPr id="4" name="TextBox 3"/>
          <p:cNvSpPr txBox="1"/>
          <p:nvPr/>
        </p:nvSpPr>
        <p:spPr>
          <a:xfrm>
            <a:off x="457200" y="777240"/>
            <a:ext cx="11247120" cy="365760"/>
          </a:xfrm>
          <a:prstGeom prst="rect">
            <a:avLst/>
          </a:prstGeom>
          <a:noFill/>
        </p:spPr>
        <p:txBody>
          <a:bodyPr wrap="square" anchor="t" lIns="45720" rIns="45720">
            <a:spAutoFit/>
          </a:bodyPr>
          <a:lstStyle/>
          <a:p>
            <a:pPr algn="l"/>
            <a:r>
              <a:rPr sz="1400" b="0" i="1">
                <a:solidFill>
                  <a:srgbClr val="555555"/>
                </a:solidFill>
                <a:latin typeface="Calibri"/>
              </a:rPr>
              <a:t>Reproducible scoring from public datasets · No analyst gut-feel</a:t>
            </a:r>
          </a:p>
        </p:txBody>
      </p:sp>
      <p:sp>
        <p:nvSpPr>
          <p:cNvPr id="5" name="Rectangle 4"/>
          <p:cNvSpPr/>
          <p:nvPr/>
        </p:nvSpPr>
        <p:spPr>
          <a:xfrm>
            <a:off x="457200" y="1371600"/>
            <a:ext cx="7772400" cy="2286000"/>
          </a:xfrm>
          <a:prstGeom prst="rect">
            <a:avLst/>
          </a:prstGeom>
          <a:solidFill>
            <a:srgbClr val="E0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7406640" cy="365760"/>
          </a:xfrm>
          <a:prstGeom prst="rect">
            <a:avLst/>
          </a:prstGeom>
          <a:noFill/>
        </p:spPr>
        <p:txBody>
          <a:bodyPr wrap="square" anchor="t" lIns="45720" rIns="45720">
            <a:spAutoFit/>
          </a:bodyPr>
          <a:lstStyle/>
          <a:p>
            <a:pPr algn="l"/>
            <a:r>
              <a:rPr sz="1400" b="1" i="0">
                <a:solidFill>
                  <a:srgbClr val="005F73"/>
                </a:solidFill>
                <a:latin typeface="Calibri"/>
              </a:rPr>
              <a:t>Two formulas</a:t>
            </a:r>
          </a:p>
        </p:txBody>
      </p:sp>
      <p:sp>
        <p:nvSpPr>
          <p:cNvPr id="7" name="TextBox 6"/>
          <p:cNvSpPr txBox="1"/>
          <p:nvPr/>
        </p:nvSpPr>
        <p:spPr>
          <a:xfrm>
            <a:off x="640080" y="1920240"/>
            <a:ext cx="7406640" cy="457200"/>
          </a:xfrm>
          <a:prstGeom prst="rect">
            <a:avLst/>
          </a:prstGeom>
          <a:noFill/>
        </p:spPr>
        <p:txBody>
          <a:bodyPr wrap="square" anchor="t" lIns="45720" rIns="45720">
            <a:spAutoFit/>
          </a:bodyPr>
          <a:lstStyle/>
          <a:p>
            <a:pPr algn="l"/>
            <a:r>
              <a:rPr sz="1400" b="0" i="0">
                <a:solidFill>
                  <a:srgbClr val="1A1A1A"/>
                </a:solidFill>
                <a:latin typeface="Consolas"/>
              </a:rPr>
              <a:t>Likelihood = 0.4 × Process Intrinsic + 0.6 × Country Hazard    →   1–5</a:t>
            </a:r>
          </a:p>
        </p:txBody>
      </p:sp>
      <p:sp>
        <p:nvSpPr>
          <p:cNvPr id="8" name="TextBox 7"/>
          <p:cNvSpPr txBox="1"/>
          <p:nvPr/>
        </p:nvSpPr>
        <p:spPr>
          <a:xfrm>
            <a:off x="640080" y="2331720"/>
            <a:ext cx="7406640" cy="457200"/>
          </a:xfrm>
          <a:prstGeom prst="rect">
            <a:avLst/>
          </a:prstGeom>
          <a:noFill/>
        </p:spPr>
        <p:txBody>
          <a:bodyPr wrap="square" anchor="t" lIns="45720" rIns="45720">
            <a:spAutoFit/>
          </a:bodyPr>
          <a:lstStyle/>
          <a:p>
            <a:pPr algn="l"/>
            <a:r>
              <a:rPr sz="1400" b="0" i="0">
                <a:solidFill>
                  <a:srgbClr val="1A1A1A"/>
                </a:solidFill>
                <a:latin typeface="Consolas"/>
              </a:rPr>
              <a:t>Severity   = 0.5 × Ecological Sensitivity + 0.5 × Regulatory Strict.   →   1–5</a:t>
            </a:r>
          </a:p>
        </p:txBody>
      </p:sp>
      <p:sp>
        <p:nvSpPr>
          <p:cNvPr id="9" name="TextBox 8"/>
          <p:cNvSpPr txBox="1"/>
          <p:nvPr/>
        </p:nvSpPr>
        <p:spPr>
          <a:xfrm>
            <a:off x="640080" y="2788920"/>
            <a:ext cx="7406640" cy="457200"/>
          </a:xfrm>
          <a:prstGeom prst="rect">
            <a:avLst/>
          </a:prstGeom>
          <a:noFill/>
        </p:spPr>
        <p:txBody>
          <a:bodyPr wrap="square" anchor="t" lIns="45720" rIns="45720">
            <a:spAutoFit/>
          </a:bodyPr>
          <a:lstStyle/>
          <a:p>
            <a:pPr algn="l"/>
            <a:r>
              <a:rPr sz="1400" b="0" i="0">
                <a:solidFill>
                  <a:srgbClr val="1A1A1A"/>
                </a:solidFill>
                <a:latin typeface="Consolas"/>
              </a:rPr>
              <a:t>Overall    = Likelihood × Severity              →   1–25</a:t>
            </a:r>
          </a:p>
        </p:txBody>
      </p:sp>
      <p:sp>
        <p:nvSpPr>
          <p:cNvPr id="10" name="TextBox 9"/>
          <p:cNvSpPr txBox="1"/>
          <p:nvPr/>
        </p:nvSpPr>
        <p:spPr>
          <a:xfrm>
            <a:off x="640080" y="3246120"/>
            <a:ext cx="7406640" cy="365760"/>
          </a:xfrm>
          <a:prstGeom prst="rect">
            <a:avLst/>
          </a:prstGeom>
          <a:noFill/>
        </p:spPr>
        <p:txBody>
          <a:bodyPr wrap="square" anchor="t" lIns="45720" rIns="45720">
            <a:spAutoFit/>
          </a:bodyPr>
          <a:lstStyle/>
          <a:p>
            <a:pPr algn="l"/>
            <a:r>
              <a:rPr sz="1100" b="0" i="1">
                <a:solidFill>
                  <a:srgbClr val="555555"/>
                </a:solidFill>
                <a:latin typeface="Calibri"/>
              </a:rPr>
              <a:t>Buckets: 1–4 Low · 5–9 Moderate · 10–14 High · 15–25 Critical</a:t>
            </a:r>
          </a:p>
        </p:txBody>
      </p:sp>
      <p:sp>
        <p:nvSpPr>
          <p:cNvPr id="11" name="Rectangle 10"/>
          <p:cNvSpPr/>
          <p:nvPr/>
        </p:nvSpPr>
        <p:spPr>
          <a:xfrm>
            <a:off x="8503920" y="1371600"/>
            <a:ext cx="777240" cy="320040"/>
          </a:xfrm>
          <a:prstGeom prst="rect">
            <a:avLst/>
          </a:prstGeom>
          <a:solidFill>
            <a:srgbClr val="4CA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0" y="1371600"/>
            <a:ext cx="777240" cy="320040"/>
          </a:xfrm>
          <a:prstGeom prst="rect">
            <a:avLst/>
          </a:prstGeom>
          <a:noFill/>
        </p:spPr>
        <p:txBody>
          <a:bodyPr wrap="square" anchor="ctr" lIns="45720" rIns="45720">
            <a:spAutoFit/>
          </a:bodyPr>
          <a:lstStyle/>
          <a:p>
            <a:pPr algn="ctr"/>
            <a:r>
              <a:rPr sz="1100" b="1" i="0">
                <a:solidFill>
                  <a:srgbClr val="FFFFFF"/>
                </a:solidFill>
                <a:latin typeface="Calibri"/>
              </a:rPr>
              <a:t>Low</a:t>
            </a:r>
          </a:p>
        </p:txBody>
      </p:sp>
      <p:sp>
        <p:nvSpPr>
          <p:cNvPr id="13" name="Rectangle 12"/>
          <p:cNvSpPr/>
          <p:nvPr/>
        </p:nvSpPr>
        <p:spPr>
          <a:xfrm>
            <a:off x="9326880" y="1371600"/>
            <a:ext cx="777240" cy="320040"/>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1371600"/>
            <a:ext cx="777240" cy="320040"/>
          </a:xfrm>
          <a:prstGeom prst="rect">
            <a:avLst/>
          </a:prstGeom>
          <a:noFill/>
        </p:spPr>
        <p:txBody>
          <a:bodyPr wrap="square" anchor="ctr" lIns="45720" rIns="45720">
            <a:spAutoFit/>
          </a:bodyPr>
          <a:lstStyle/>
          <a:p>
            <a:pPr algn="ctr"/>
            <a:r>
              <a:rPr sz="1100" b="1" i="0">
                <a:solidFill>
                  <a:srgbClr val="FFFFFF"/>
                </a:solidFill>
                <a:latin typeface="Calibri"/>
              </a:rPr>
              <a:t>Moderate</a:t>
            </a:r>
          </a:p>
        </p:txBody>
      </p:sp>
      <p:sp>
        <p:nvSpPr>
          <p:cNvPr id="15" name="Rectangle 14"/>
          <p:cNvSpPr/>
          <p:nvPr/>
        </p:nvSpPr>
        <p:spPr>
          <a:xfrm>
            <a:off x="10149840" y="1371600"/>
            <a:ext cx="777240" cy="320040"/>
          </a:xfrm>
          <a:prstGeom prst="rect">
            <a:avLst/>
          </a:prstGeom>
          <a:solidFill>
            <a:srgbClr val="FF9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371600"/>
            <a:ext cx="777240" cy="320040"/>
          </a:xfrm>
          <a:prstGeom prst="rect">
            <a:avLst/>
          </a:prstGeom>
          <a:noFill/>
        </p:spPr>
        <p:txBody>
          <a:bodyPr wrap="square" anchor="ctr" lIns="45720" rIns="45720">
            <a:spAutoFit/>
          </a:bodyPr>
          <a:lstStyle/>
          <a:p>
            <a:pPr algn="ctr"/>
            <a:r>
              <a:rPr sz="1100" b="1" i="0">
                <a:solidFill>
                  <a:srgbClr val="FFFFFF"/>
                </a:solidFill>
                <a:latin typeface="Calibri"/>
              </a:rPr>
              <a:t>High</a:t>
            </a:r>
          </a:p>
        </p:txBody>
      </p:sp>
      <p:sp>
        <p:nvSpPr>
          <p:cNvPr id="17" name="Rectangle 16"/>
          <p:cNvSpPr/>
          <p:nvPr/>
        </p:nvSpPr>
        <p:spPr>
          <a:xfrm>
            <a:off x="10972800" y="1371600"/>
            <a:ext cx="777240" cy="320040"/>
          </a:xfrm>
          <a:prstGeom prst="rect">
            <a:avLst/>
          </a:prstGeom>
          <a:solidFill>
            <a:srgbClr val="E539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0" y="1371600"/>
            <a:ext cx="777240" cy="320040"/>
          </a:xfrm>
          <a:prstGeom prst="rect">
            <a:avLst/>
          </a:prstGeom>
          <a:noFill/>
        </p:spPr>
        <p:txBody>
          <a:bodyPr wrap="square" anchor="ctr" lIns="45720" rIns="45720">
            <a:spAutoFit/>
          </a:bodyPr>
          <a:lstStyle/>
          <a:p>
            <a:pPr algn="ctr"/>
            <a:r>
              <a:rPr sz="1100" b="1" i="0">
                <a:solidFill>
                  <a:srgbClr val="FFFFFF"/>
                </a:solidFill>
                <a:latin typeface="Calibri"/>
              </a:rPr>
              <a:t>Critical</a:t>
            </a:r>
          </a:p>
        </p:txBody>
      </p:sp>
      <p:sp>
        <p:nvSpPr>
          <p:cNvPr id="19" name="TextBox 18"/>
          <p:cNvSpPr txBox="1"/>
          <p:nvPr/>
        </p:nvSpPr>
        <p:spPr>
          <a:xfrm>
            <a:off x="457200" y="3931920"/>
            <a:ext cx="11247120" cy="365760"/>
          </a:xfrm>
          <a:prstGeom prst="rect">
            <a:avLst/>
          </a:prstGeom>
          <a:noFill/>
        </p:spPr>
        <p:txBody>
          <a:bodyPr wrap="square" anchor="t" lIns="45720" rIns="45720">
            <a:spAutoFit/>
          </a:bodyPr>
          <a:lstStyle/>
          <a:p>
            <a:pPr algn="l"/>
            <a:r>
              <a:rPr sz="1400" b="1" i="0">
                <a:solidFill>
                  <a:srgbClr val="005F73"/>
                </a:solidFill>
                <a:latin typeface="Calibri"/>
              </a:rPr>
              <a:t>Why country weight &gt; process weight (0.6 vs 0.4)?</a:t>
            </a:r>
          </a:p>
        </p:txBody>
      </p:sp>
      <p:sp>
        <p:nvSpPr>
          <p:cNvPr id="20" name="TextBox 19"/>
          <p:cNvSpPr txBox="1"/>
          <p:nvPr/>
        </p:nvSpPr>
        <p:spPr>
          <a:xfrm>
            <a:off x="457200" y="4297680"/>
            <a:ext cx="11247120" cy="914400"/>
          </a:xfrm>
          <a:prstGeom prst="rect">
            <a:avLst/>
          </a:prstGeom>
          <a:noFill/>
        </p:spPr>
        <p:txBody>
          <a:bodyPr wrap="square" anchor="t" lIns="45720" rIns="45720">
            <a:spAutoFit/>
          </a:bodyPr>
          <a:lstStyle/>
          <a:p>
            <a:pPr algn="l"/>
            <a:r>
              <a:rPr sz="1200" b="0" i="0">
                <a:solidFill>
                  <a:srgbClr val="1A1A1A"/>
                </a:solidFill>
                <a:latin typeface="Calibri"/>
              </a:rPr>
              <a:t>Process determines whether a risk is possible at all (no tailings in trading), but country context determines whether a capable process actually causes harm. Two copper mines — Chile's Atacama and Zambia's Copperbelt — have the same Process Intrinsic score for water depletion (5), but very different realized risk: Aqueduct rates Atacama 5 (Extremely High) vs Zambia 2.</a:t>
            </a:r>
          </a:p>
        </p:txBody>
      </p:sp>
      <p:sp>
        <p:nvSpPr>
          <p:cNvPr id="21" name="TextBox 20"/>
          <p:cNvSpPr txBox="1"/>
          <p:nvPr/>
        </p:nvSpPr>
        <p:spPr>
          <a:xfrm>
            <a:off x="457200" y="5212080"/>
            <a:ext cx="11247120" cy="365760"/>
          </a:xfrm>
          <a:prstGeom prst="rect">
            <a:avLst/>
          </a:prstGeom>
          <a:noFill/>
        </p:spPr>
        <p:txBody>
          <a:bodyPr wrap="square" anchor="t" lIns="45720" rIns="45720">
            <a:spAutoFit/>
          </a:bodyPr>
          <a:lstStyle/>
          <a:p>
            <a:pPr algn="l"/>
            <a:r>
              <a:rPr sz="1400" b="1" i="0">
                <a:solidFill>
                  <a:srgbClr val="005F73"/>
                </a:solidFill>
                <a:latin typeface="Calibri"/>
              </a:rPr>
              <a:t>Public datasets feeding the scores</a:t>
            </a:r>
          </a:p>
        </p:txBody>
      </p:sp>
      <p:sp>
        <p:nvSpPr>
          <p:cNvPr id="22" name="TextBox 21"/>
          <p:cNvSpPr txBox="1"/>
          <p:nvPr/>
        </p:nvSpPr>
        <p:spPr>
          <a:xfrm>
            <a:off x="457200" y="5532120"/>
            <a:ext cx="11247120" cy="457200"/>
          </a:xfrm>
          <a:prstGeom prst="rect">
            <a:avLst/>
          </a:prstGeom>
          <a:noFill/>
        </p:spPr>
        <p:txBody>
          <a:bodyPr wrap="square" anchor="t" lIns="45720" rIns="45720">
            <a:spAutoFit/>
          </a:bodyPr>
          <a:lstStyle/>
          <a:p>
            <a:pPr algn="l"/>
            <a:r>
              <a:rPr sz="1000" b="0" i="1">
                <a:solidFill>
                  <a:srgbClr val="555555"/>
                </a:solidFill>
                <a:latin typeface="Calibri"/>
              </a:rPr>
              <a:t>WRI Aqueduct · Yale EPI 2024 · WHO PM2.5 DB · IUCN Red List · WDPA · Global Forest Watch · Global Tailings Portal · USGS MRDS · USGS Critical Minerals Atlas · Global Energy Monitor · ISRIC SoilGrids · World Bank WGI · INFORM Risk · Glencore CAHRA List 2025</a:t>
            </a:r>
          </a:p>
        </p:txBody>
      </p:sp>
      <p:sp>
        <p:nvSpPr>
          <p:cNvPr id="23" name="TextBox 22"/>
          <p:cNvSpPr txBox="1"/>
          <p:nvPr/>
        </p:nvSpPr>
        <p:spPr>
          <a:xfrm>
            <a:off x="457200" y="5989320"/>
            <a:ext cx="11247120" cy="320040"/>
          </a:xfrm>
          <a:prstGeom prst="rect">
            <a:avLst/>
          </a:prstGeom>
          <a:noFill/>
        </p:spPr>
        <p:txBody>
          <a:bodyPr wrap="square" anchor="t" lIns="45720" rIns="45720">
            <a:spAutoFit/>
          </a:bodyPr>
          <a:lstStyle/>
          <a:p>
            <a:pPr algn="l"/>
            <a:r>
              <a:rPr sz="900" b="0" i="1">
                <a:solidFill>
                  <a:srgbClr val="555555"/>
                </a:solidFill>
                <a:latin typeface="Calibri"/>
              </a:rPr>
              <a:t>All weights and bucket thresholds editable in scoring_weights.csv. Full methodology: github.com/mnmarkovitz/glencore_enviro_risk_tool/blob/main/docs/METHODOLOGY.md</a:t>
            </a:r>
          </a:p>
        </p:txBody>
      </p:sp>
      <p:sp>
        <p:nvSpPr>
          <p:cNvPr id="24" name="TextBox 23"/>
          <p:cNvSpPr txBox="1"/>
          <p:nvPr/>
        </p:nvSpPr>
        <p:spPr>
          <a:xfrm>
            <a:off x="457200" y="6446520"/>
            <a:ext cx="7315200" cy="320040"/>
          </a:xfrm>
          <a:prstGeom prst="rect">
            <a:avLst/>
          </a:prstGeom>
          <a:noFill/>
        </p:spPr>
        <p:txBody>
          <a:bodyPr wrap="square" anchor="t" lIns="45720" rIns="45720">
            <a:spAutoFit/>
          </a:bodyPr>
          <a:lstStyle/>
          <a:p>
            <a:pPr algn="l"/>
            <a:r>
              <a:rPr sz="900" b="0" i="1">
                <a:solidFill>
                  <a:srgbClr val="555555"/>
                </a:solidFill>
                <a:latin typeface="Calibri"/>
              </a:rPr>
              <a:t>Glencore × NYU SPS Center for Global Affairs Consulting Practicum</a:t>
            </a:r>
          </a:p>
        </p:txBody>
      </p:sp>
      <p:sp>
        <p:nvSpPr>
          <p:cNvPr id="25" name="TextBox 24"/>
          <p:cNvSpPr txBox="1"/>
          <p:nvPr/>
        </p:nvSpPr>
        <p:spPr>
          <a:xfrm>
            <a:off x="10515600" y="6446520"/>
            <a:ext cx="1188720" cy="320040"/>
          </a:xfrm>
          <a:prstGeom prst="rect">
            <a:avLst/>
          </a:prstGeom>
          <a:noFill/>
        </p:spPr>
        <p:txBody>
          <a:bodyPr wrap="square" anchor="t" lIns="45720" rIns="45720">
            <a:spAutoFit/>
          </a:bodyPr>
          <a:lstStyle/>
          <a:p>
            <a:pPr algn="r"/>
            <a:r>
              <a:rPr sz="900" b="0" i="0">
                <a:solidFill>
                  <a:srgbClr val="555555"/>
                </a:solidFill>
                <a:latin typeface="Calibri"/>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00A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548640"/>
          </a:xfrm>
          <a:prstGeom prst="rect">
            <a:avLst/>
          </a:prstGeom>
          <a:noFill/>
        </p:spPr>
        <p:txBody>
          <a:bodyPr wrap="square" anchor="t" lIns="45720" rIns="45720">
            <a:spAutoFit/>
          </a:bodyPr>
          <a:lstStyle/>
          <a:p>
            <a:pPr algn="l"/>
            <a:r>
              <a:rPr sz="2600" b="1" i="0">
                <a:solidFill>
                  <a:srgbClr val="005F73"/>
                </a:solidFill>
                <a:latin typeface="Calibri"/>
              </a:rPr>
              <a:t>Geopolitics deep dive — DRC × Cobalt × Mining</a:t>
            </a:r>
          </a:p>
        </p:txBody>
      </p:sp>
      <p:sp>
        <p:nvSpPr>
          <p:cNvPr id="4" name="TextBox 3"/>
          <p:cNvSpPr txBox="1"/>
          <p:nvPr/>
        </p:nvSpPr>
        <p:spPr>
          <a:xfrm>
            <a:off x="457200" y="777240"/>
            <a:ext cx="11247120" cy="365760"/>
          </a:xfrm>
          <a:prstGeom prst="rect">
            <a:avLst/>
          </a:prstGeom>
          <a:noFill/>
        </p:spPr>
        <p:txBody>
          <a:bodyPr wrap="square" anchor="t" lIns="45720" rIns="45720">
            <a:spAutoFit/>
          </a:bodyPr>
          <a:lstStyle/>
          <a:p>
            <a:pPr algn="l"/>
            <a:r>
              <a:rPr sz="1400" b="0" i="1">
                <a:solidFill>
                  <a:srgbClr val="555555"/>
                </a:solidFill>
                <a:latin typeface="Calibri"/>
              </a:rPr>
              <a:t>Why this combination is the canonical stress-test for the energy transition</a:t>
            </a:r>
          </a:p>
        </p:txBody>
      </p:sp>
      <p:sp>
        <p:nvSpPr>
          <p:cNvPr id="5" name="Rectangle 4"/>
          <p:cNvSpPr/>
          <p:nvPr/>
        </p:nvSpPr>
        <p:spPr>
          <a:xfrm>
            <a:off x="457200" y="1280160"/>
            <a:ext cx="2788920" cy="1508760"/>
          </a:xfrm>
          <a:prstGeom prst="rect">
            <a:avLst/>
          </a:prstGeom>
          <a:solidFill>
            <a:srgbClr val="005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71600"/>
            <a:ext cx="2788920" cy="731520"/>
          </a:xfrm>
          <a:prstGeom prst="rect">
            <a:avLst/>
          </a:prstGeom>
          <a:noFill/>
        </p:spPr>
        <p:txBody>
          <a:bodyPr wrap="square" anchor="t" lIns="45720" rIns="45720">
            <a:spAutoFit/>
          </a:bodyPr>
          <a:lstStyle/>
          <a:p>
            <a:pPr algn="ctr"/>
            <a:r>
              <a:rPr sz="3200" b="1" i="0">
                <a:solidFill>
                  <a:srgbClr val="FFFFFF"/>
                </a:solidFill>
                <a:latin typeface="Calibri"/>
              </a:rPr>
              <a:t>74%</a:t>
            </a:r>
          </a:p>
        </p:txBody>
      </p:sp>
      <p:sp>
        <p:nvSpPr>
          <p:cNvPr id="7" name="TextBox 6"/>
          <p:cNvSpPr txBox="1"/>
          <p:nvPr/>
        </p:nvSpPr>
        <p:spPr>
          <a:xfrm>
            <a:off x="457200" y="2148840"/>
            <a:ext cx="2788920" cy="731520"/>
          </a:xfrm>
          <a:prstGeom prst="rect">
            <a:avLst/>
          </a:prstGeom>
          <a:noFill/>
        </p:spPr>
        <p:txBody>
          <a:bodyPr wrap="square" anchor="t" lIns="45720" rIns="45720">
            <a:spAutoFit/>
          </a:bodyPr>
          <a:lstStyle/>
          <a:p>
            <a:pPr algn="ctr"/>
            <a:r>
              <a:rPr sz="1000" b="0" i="0">
                <a:solidFill>
                  <a:srgbClr val="FFFFFF"/>
                </a:solidFill>
                <a:latin typeface="Calibri"/>
              </a:rPr>
              <a:t>DRC's share of global cobalt mine production (USGS MCS 2024)</a:t>
            </a:r>
          </a:p>
        </p:txBody>
      </p:sp>
      <p:sp>
        <p:nvSpPr>
          <p:cNvPr id="8" name="Rectangle 7"/>
          <p:cNvSpPr/>
          <p:nvPr/>
        </p:nvSpPr>
        <p:spPr>
          <a:xfrm>
            <a:off x="3337560" y="1280160"/>
            <a:ext cx="2788920" cy="1508760"/>
          </a:xfrm>
          <a:prstGeom prst="rect">
            <a:avLst/>
          </a:prstGeom>
          <a:solidFill>
            <a:srgbClr val="00A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37560" y="1371600"/>
            <a:ext cx="2788920" cy="731520"/>
          </a:xfrm>
          <a:prstGeom prst="rect">
            <a:avLst/>
          </a:prstGeom>
          <a:noFill/>
        </p:spPr>
        <p:txBody>
          <a:bodyPr wrap="square" anchor="t" lIns="45720" rIns="45720">
            <a:spAutoFit/>
          </a:bodyPr>
          <a:lstStyle/>
          <a:p>
            <a:pPr algn="ctr"/>
            <a:r>
              <a:rPr sz="3200" b="1" i="0">
                <a:solidFill>
                  <a:srgbClr val="FFFFFF"/>
                </a:solidFill>
                <a:latin typeface="Calibri"/>
              </a:rPr>
              <a:t>All regions</a:t>
            </a:r>
          </a:p>
        </p:txBody>
      </p:sp>
      <p:sp>
        <p:nvSpPr>
          <p:cNvPr id="10" name="TextBox 9"/>
          <p:cNvSpPr txBox="1"/>
          <p:nvPr/>
        </p:nvSpPr>
        <p:spPr>
          <a:xfrm>
            <a:off x="3337560" y="2148840"/>
            <a:ext cx="2788920" cy="731520"/>
          </a:xfrm>
          <a:prstGeom prst="rect">
            <a:avLst/>
          </a:prstGeom>
          <a:noFill/>
        </p:spPr>
        <p:txBody>
          <a:bodyPr wrap="square" anchor="t" lIns="45720" rIns="45720">
            <a:spAutoFit/>
          </a:bodyPr>
          <a:lstStyle/>
          <a:p>
            <a:pPr algn="ctr"/>
            <a:r>
              <a:rPr sz="1000" b="0" i="0">
                <a:solidFill>
                  <a:srgbClr val="FFFFFF"/>
                </a:solidFill>
                <a:latin typeface="Calibri"/>
              </a:rPr>
              <a:t>Glencore CAHRA flag — every Congolese province is high-risk</a:t>
            </a:r>
          </a:p>
        </p:txBody>
      </p:sp>
      <p:sp>
        <p:nvSpPr>
          <p:cNvPr id="11" name="Rectangle 10"/>
          <p:cNvSpPr/>
          <p:nvPr/>
        </p:nvSpPr>
        <p:spPr>
          <a:xfrm>
            <a:off x="6217920" y="1280160"/>
            <a:ext cx="2788920" cy="1508760"/>
          </a:xfrm>
          <a:prstGeom prst="rect">
            <a:avLst/>
          </a:prstGeom>
          <a:solidFill>
            <a:srgbClr val="005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1371600"/>
            <a:ext cx="2788920" cy="731520"/>
          </a:xfrm>
          <a:prstGeom prst="rect">
            <a:avLst/>
          </a:prstGeom>
          <a:noFill/>
        </p:spPr>
        <p:txBody>
          <a:bodyPr wrap="square" anchor="t" lIns="45720" rIns="45720">
            <a:spAutoFit/>
          </a:bodyPr>
          <a:lstStyle/>
          <a:p>
            <a:pPr algn="ctr"/>
            <a:r>
              <a:rPr sz="3200" b="1" i="0">
                <a:solidFill>
                  <a:srgbClr val="FFFFFF"/>
                </a:solidFill>
                <a:latin typeface="Calibri"/>
              </a:rPr>
              <a:t>~2 of 5</a:t>
            </a:r>
          </a:p>
        </p:txBody>
      </p:sp>
      <p:sp>
        <p:nvSpPr>
          <p:cNvPr id="13" name="TextBox 12"/>
          <p:cNvSpPr txBox="1"/>
          <p:nvPr/>
        </p:nvSpPr>
        <p:spPr>
          <a:xfrm>
            <a:off x="6217920" y="2148840"/>
            <a:ext cx="2788920" cy="731520"/>
          </a:xfrm>
          <a:prstGeom prst="rect">
            <a:avLst/>
          </a:prstGeom>
          <a:noFill/>
        </p:spPr>
        <p:txBody>
          <a:bodyPr wrap="square" anchor="t" lIns="45720" rIns="45720">
            <a:spAutoFit/>
          </a:bodyPr>
          <a:lstStyle/>
          <a:p>
            <a:pPr algn="ctr"/>
            <a:r>
              <a:rPr sz="1000" b="0" i="0">
                <a:solidFill>
                  <a:srgbClr val="FFFFFF"/>
                </a:solidFill>
                <a:latin typeface="Calibri"/>
              </a:rPr>
              <a:t>of every EV battery's cathode chemistry depends on cobalt</a:t>
            </a:r>
          </a:p>
        </p:txBody>
      </p:sp>
      <p:sp>
        <p:nvSpPr>
          <p:cNvPr id="14" name="Rectangle 13"/>
          <p:cNvSpPr/>
          <p:nvPr/>
        </p:nvSpPr>
        <p:spPr>
          <a:xfrm>
            <a:off x="9098280" y="1280160"/>
            <a:ext cx="2788920" cy="1508760"/>
          </a:xfrm>
          <a:prstGeom prst="rect">
            <a:avLst/>
          </a:prstGeom>
          <a:solidFill>
            <a:srgbClr val="00A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98280" y="1371600"/>
            <a:ext cx="2788920" cy="731520"/>
          </a:xfrm>
          <a:prstGeom prst="rect">
            <a:avLst/>
          </a:prstGeom>
          <a:noFill/>
        </p:spPr>
        <p:txBody>
          <a:bodyPr wrap="square" anchor="t" lIns="45720" rIns="45720">
            <a:spAutoFit/>
          </a:bodyPr>
          <a:lstStyle/>
          <a:p>
            <a:pPr algn="ctr"/>
            <a:r>
              <a:rPr sz="3200" b="1" i="0">
                <a:solidFill>
                  <a:srgbClr val="FFFFFF"/>
                </a:solidFill>
                <a:latin typeface="Calibri"/>
              </a:rPr>
              <a:t>Tier 2</a:t>
            </a:r>
          </a:p>
        </p:txBody>
      </p:sp>
      <p:sp>
        <p:nvSpPr>
          <p:cNvPr id="16" name="TextBox 15"/>
          <p:cNvSpPr txBox="1"/>
          <p:nvPr/>
        </p:nvSpPr>
        <p:spPr>
          <a:xfrm>
            <a:off x="9098280" y="2148840"/>
            <a:ext cx="2788920" cy="731520"/>
          </a:xfrm>
          <a:prstGeom prst="rect">
            <a:avLst/>
          </a:prstGeom>
          <a:noFill/>
        </p:spPr>
        <p:txBody>
          <a:bodyPr wrap="square" anchor="t" lIns="45720" rIns="45720">
            <a:spAutoFit/>
          </a:bodyPr>
          <a:lstStyle/>
          <a:p>
            <a:pPr algn="ctr"/>
            <a:r>
              <a:rPr sz="1000" b="0" i="0">
                <a:solidFill>
                  <a:srgbClr val="FFFFFF"/>
                </a:solidFill>
                <a:latin typeface="Calibri"/>
              </a:rPr>
              <a:t>auto-trigger: any DRC supplier escalates immediately under SCDD M&amp;M procedure</a:t>
            </a:r>
          </a:p>
        </p:txBody>
      </p:sp>
      <p:sp>
        <p:nvSpPr>
          <p:cNvPr id="17" name="TextBox 16"/>
          <p:cNvSpPr txBox="1"/>
          <p:nvPr/>
        </p:nvSpPr>
        <p:spPr>
          <a:xfrm>
            <a:off x="457200" y="2926080"/>
            <a:ext cx="5486400" cy="365760"/>
          </a:xfrm>
          <a:prstGeom prst="rect">
            <a:avLst/>
          </a:prstGeom>
          <a:noFill/>
        </p:spPr>
        <p:txBody>
          <a:bodyPr wrap="square" anchor="t" lIns="45720" rIns="45720">
            <a:spAutoFit/>
          </a:bodyPr>
          <a:lstStyle/>
          <a:p>
            <a:pPr algn="l"/>
            <a:r>
              <a:rPr sz="1400" b="1" i="0">
                <a:solidFill>
                  <a:srgbClr val="005F73"/>
                </a:solidFill>
                <a:latin typeface="Calibri"/>
              </a:rPr>
              <a:t>Why DRC × cobalt is structurally exposed</a:t>
            </a:r>
          </a:p>
        </p:txBody>
      </p:sp>
      <p:sp>
        <p:nvSpPr>
          <p:cNvPr id="18" name="TextBox 17"/>
          <p:cNvSpPr txBox="1"/>
          <p:nvPr/>
        </p:nvSpPr>
        <p:spPr>
          <a:xfrm>
            <a:off x="457200" y="3291840"/>
            <a:ext cx="5486400" cy="2926080"/>
          </a:xfrm>
          <a:prstGeom prst="rect">
            <a:avLst/>
          </a:prstGeom>
          <a:noFill/>
        </p:spPr>
        <p:txBody>
          <a:bodyPr wrap="square">
            <a:spAutoFit/>
          </a:bodyPr>
          <a:lstStyle/>
          <a:p>
            <a:pPr algn="l">
              <a:lnSpc>
                <a:spcPct val="118000"/>
              </a:lnSpc>
            </a:pPr>
            <a:r>
              <a:rPr sz="1100" b="1">
                <a:solidFill>
                  <a:srgbClr val="1A1A1A"/>
                </a:solidFill>
                <a:latin typeface="Calibri"/>
              </a:rPr>
              <a:t>• Energy transition concentration: cobalt for EV batteries, grid storage. IEA forecasts demand 6× by 2040.</a:t>
            </a:r>
          </a:p>
          <a:p>
            <a:pPr algn="l">
              <a:lnSpc>
                <a:spcPct val="118000"/>
              </a:lnSpc>
            </a:pPr>
            <a:r>
              <a:rPr sz="1100" b="1">
                <a:solidFill>
                  <a:srgbClr val="1A1A1A"/>
                </a:solidFill>
                <a:latin typeface="Calibri"/>
              </a:rPr>
              <a:t>• Geographic concentration: DRC produces ~74%; refining ~70% China-controlled. Western buyers face cross-strait + cross-border policy exposure.</a:t>
            </a:r>
          </a:p>
          <a:p>
            <a:pPr algn="l">
              <a:lnSpc>
                <a:spcPct val="118000"/>
              </a:lnSpc>
            </a:pPr>
            <a:r>
              <a:rPr sz="1100" b="0">
                <a:solidFill>
                  <a:srgbClr val="1A1A1A"/>
                </a:solidFill>
                <a:latin typeface="Calibri"/>
              </a:rPr>
              <a:t>• EU Battery Regulation (EU 2023/1542) and the U.S. Inflation Reduction Act both treat cobalt traceability and DD as compliance gating items for market access.</a:t>
            </a:r>
          </a:p>
          <a:p>
            <a:pPr algn="l">
              <a:lnSpc>
                <a:spcPct val="118000"/>
              </a:lnSpc>
            </a:pPr>
            <a:r>
              <a:rPr sz="1100" b="0">
                <a:solidFill>
                  <a:srgbClr val="1A1A1A"/>
                </a:solidFill>
                <a:latin typeface="Calibri"/>
              </a:rPr>
              <a:t>• Artisanal &amp; small-scale mining (ASM) supplies ~15-30% of DRC cobalt — child labor and fatality risk make environmental + human-rights DD inseparable.</a:t>
            </a:r>
          </a:p>
          <a:p>
            <a:pPr algn="l">
              <a:lnSpc>
                <a:spcPct val="118000"/>
              </a:lnSpc>
            </a:pPr>
            <a:r>
              <a:rPr sz="1100" b="0">
                <a:solidFill>
                  <a:srgbClr val="1A1A1A"/>
                </a:solidFill>
                <a:latin typeface="Calibri"/>
              </a:rPr>
              <a:t>• Acidic tropical Oxisols → highest soil-pollution vulnerability in the dataset; spilled heavy metals mobilize fast (ISRIC SoilGrids vulnerability ≈ 4.3 / 5).</a:t>
            </a:r>
          </a:p>
        </p:txBody>
      </p:sp>
      <p:pic>
        <p:nvPicPr>
          <p:cNvPr id="19" name="Picture 18" descr="01_dashboard.png"/>
          <p:cNvPicPr>
            <a:picLocks noChangeAspect="1"/>
          </p:cNvPicPr>
          <p:nvPr/>
        </p:nvPicPr>
        <p:blipFill>
          <a:blip r:embed="rId2"/>
          <a:stretch>
            <a:fillRect/>
          </a:stretch>
        </p:blipFill>
        <p:spPr>
          <a:xfrm>
            <a:off x="6263640" y="2926080"/>
            <a:ext cx="4522124" cy="3108960"/>
          </a:xfrm>
          <a:prstGeom prst="rect">
            <a:avLst/>
          </a:prstGeom>
        </p:spPr>
      </p:pic>
      <p:sp>
        <p:nvSpPr>
          <p:cNvPr id="20" name="TextBox 19"/>
          <p:cNvSpPr txBox="1"/>
          <p:nvPr/>
        </p:nvSpPr>
        <p:spPr>
          <a:xfrm>
            <a:off x="6263640" y="5989320"/>
            <a:ext cx="5486400" cy="274320"/>
          </a:xfrm>
          <a:prstGeom prst="rect">
            <a:avLst/>
          </a:prstGeom>
          <a:noFill/>
        </p:spPr>
        <p:txBody>
          <a:bodyPr wrap="square" anchor="t" lIns="45720" rIns="45720">
            <a:spAutoFit/>
          </a:bodyPr>
          <a:lstStyle/>
          <a:p>
            <a:pPr algn="l"/>
            <a:r>
              <a:rPr sz="1000" b="0" i="1">
                <a:solidFill>
                  <a:srgbClr val="555555"/>
                </a:solidFill>
                <a:latin typeface="Calibri"/>
              </a:rPr>
              <a:t>Live tool view: DRC × Cobalt × Mining → 3 Critical risks</a:t>
            </a:r>
          </a:p>
        </p:txBody>
      </p:sp>
      <p:sp>
        <p:nvSpPr>
          <p:cNvPr id="21" name="TextBox 20"/>
          <p:cNvSpPr txBox="1"/>
          <p:nvPr/>
        </p:nvSpPr>
        <p:spPr>
          <a:xfrm>
            <a:off x="457200" y="6263640"/>
            <a:ext cx="11247120" cy="274320"/>
          </a:xfrm>
          <a:prstGeom prst="rect">
            <a:avLst/>
          </a:prstGeom>
          <a:noFill/>
        </p:spPr>
        <p:txBody>
          <a:bodyPr wrap="square" anchor="t" lIns="45720" rIns="45720">
            <a:spAutoFit/>
          </a:bodyPr>
          <a:lstStyle/>
          <a:p>
            <a:pPr algn="l"/>
            <a:r>
              <a:rPr sz="1000" b="0" i="0">
                <a:solidFill>
                  <a:srgbClr val="1A1A1A"/>
                </a:solidFill>
                <a:latin typeface="Calibri"/>
              </a:rPr>
              <a:t>What the analyst gets in 10 minutes: ranked risks (Tailings · Soil pollution · Biodiversity → all Critical), KPIs for the SAQ, supplier-type categories, every score auditable to a public dataset URL.</a:t>
            </a:r>
          </a:p>
        </p:txBody>
      </p:sp>
      <p:sp>
        <p:nvSpPr>
          <p:cNvPr id="22" name="TextBox 21"/>
          <p:cNvSpPr txBox="1"/>
          <p:nvPr/>
        </p:nvSpPr>
        <p:spPr>
          <a:xfrm>
            <a:off x="457200" y="6583680"/>
            <a:ext cx="11247120" cy="274320"/>
          </a:xfrm>
          <a:prstGeom prst="rect">
            <a:avLst/>
          </a:prstGeom>
          <a:noFill/>
        </p:spPr>
        <p:txBody>
          <a:bodyPr wrap="square" anchor="t" lIns="45720" rIns="45720">
            <a:spAutoFit/>
          </a:bodyPr>
          <a:lstStyle/>
          <a:p>
            <a:pPr algn="l"/>
            <a:r>
              <a:rPr sz="800" b="0" i="1">
                <a:solidFill>
                  <a:srgbClr val="555555"/>
                </a:solidFill>
                <a:latin typeface="Calibri"/>
              </a:rPr>
              <a:t>Sources: USGS MCS 2024 · Glencore CAHRA List 2025 · IEA Critical Minerals Outlook 2024 · ISRIC SoilGrids 2.0 · IUCN Red List · Global Forest Watch · Global Tailings Portal · EU Battery Regulation 2023/1542 · U.S. IRA (Public Law 117–169).</a:t>
            </a:r>
          </a:p>
        </p:txBody>
      </p:sp>
      <p:sp>
        <p:nvSpPr>
          <p:cNvPr id="23" name="TextBox 22"/>
          <p:cNvSpPr txBox="1"/>
          <p:nvPr/>
        </p:nvSpPr>
        <p:spPr>
          <a:xfrm>
            <a:off x="457200" y="6446520"/>
            <a:ext cx="7315200" cy="320040"/>
          </a:xfrm>
          <a:prstGeom prst="rect">
            <a:avLst/>
          </a:prstGeom>
          <a:noFill/>
        </p:spPr>
        <p:txBody>
          <a:bodyPr wrap="square" anchor="t" lIns="45720" rIns="45720">
            <a:spAutoFit/>
          </a:bodyPr>
          <a:lstStyle/>
          <a:p>
            <a:pPr algn="l"/>
            <a:r>
              <a:rPr sz="900" b="0" i="1">
                <a:solidFill>
                  <a:srgbClr val="555555"/>
                </a:solidFill>
                <a:latin typeface="Calibri"/>
              </a:rPr>
              <a:t>Glencore × NYU SPS Center for Global Affairs Consulting Practicum</a:t>
            </a:r>
          </a:p>
        </p:txBody>
      </p:sp>
      <p:sp>
        <p:nvSpPr>
          <p:cNvPr id="24" name="TextBox 23"/>
          <p:cNvSpPr txBox="1"/>
          <p:nvPr/>
        </p:nvSpPr>
        <p:spPr>
          <a:xfrm>
            <a:off x="10515600" y="6446520"/>
            <a:ext cx="1188720" cy="320040"/>
          </a:xfrm>
          <a:prstGeom prst="rect">
            <a:avLst/>
          </a:prstGeom>
          <a:noFill/>
        </p:spPr>
        <p:txBody>
          <a:bodyPr wrap="square" anchor="t" lIns="45720" rIns="45720">
            <a:spAutoFit/>
          </a:bodyPr>
          <a:lstStyle/>
          <a:p>
            <a:pPr algn="r"/>
            <a:r>
              <a:rPr sz="900" b="0" i="0">
                <a:solidFill>
                  <a:srgbClr val="555555"/>
                </a:solidFill>
                <a:latin typeface="Calibri"/>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