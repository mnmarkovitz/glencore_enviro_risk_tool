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1, 30 sec] Welcome. We're presenting an environmental risk identification tool we built for the Glencore Responsible Sourcing team. Our framing is the geopolitics of the energy transition — the minerals we need for batteries and grids are concentrated in jurisdictions where environmental due diligence is hardest. We'll walk through the scope, the geopolitical context, the tool itself, a case study, and how it fits Glencore's existing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1, 1 min] Glencore engaged us to build a Tier 1 desktop research tool for environmental risk in their metals and minerals supply chain. The mandate had a few hard constraints: it had to automate the early steps of their existing OECD-aligned due diligence procedure — specifically Step 2A and 2B; it had to be non-technical so any RS analyst could use it; and every score had to come from a public, audit-able source so it could survive a CSRD or CSDDD review. We aligned our scoring methodology to ENCORE materiality and the IFC EHS Guidelines for process-level intensity. I'll now hand to [Speaker 2] for the geopolitical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2, 1 min 30] The energy transition isn't just a story about renewable electricity — it's a mineral story. The IEA forecasts 4 to 6 times demand growth for cobalt, nickel, copper, and rare earths by 2040 under a net-zero scenario. But supply is highly concentrated: 74 percent of cobalt comes from the DRC, almost half of nickel from Indonesia, 72 percent of platinum from South Africa. And here's the critical geopolitical insight — the US 2022 Critical Minerals List, the EU's Critical Raw Materials Act, and the Inflation Reduction Act are all responding to the same problem: every Western government is now treating supply-chain concentration as a national-security risk. For an operator like Glencore, that's not a thought experiment — it's where they actually buy and sell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2, 1 min 30] If we map Glencore's CAHRA list against the US 2022 Critical Minerals List, the overlap is striking. Cobalt — 74 percent DRC, all of which is CAHRA-flagged. Nickel — 48 percent Indonesia, all CAHRA. Platinum — 72 percent South Africa. Aluminum smelting — 59 percent China, with Xinjiang flagged. The point isn't that any specific country is bad; it's that the geographic concentration of energy-transition minerals systematically pushes Western buyers into jurisdictions where environmental governance is weak or contested. That's the operational gap our tool addresses. Now I'll hand to [Speaker 1] for the tool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1, 1 min] This is the tool. An analyst opens it, picks a commodity in the sidebar — let's say cobalt — and the country dropdown automatically prioritizes the top producers from the USGS Mineral Commodity Summaries. They pick a process — mining, refining, smelting, recycling, or marketing — and they get back a ranked table of every environmental risk that applies, plus a 5-by-5 Likelihood-by-Severity heatmap. Click any row and you see the raw indicator value with its source URL, so an audit can trace every number back to its public data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1, 1 min] Two formulas. Likelihood is 40 percent process intensity — does the process even cause this risk — and 60 percent country hazard, drawn from a specific public dataset for each risk: Aqueduct for water, IUCN for species, GFW for deforestation, SoilGrids for soil, and so on. Severity is half ecological sensitivity, half regulatory strictness — because the tool measures penalty exposure, not pure ecological damage. Overall is L times S, bucketed into Low, Moderate, High, and Critical. Importantly, every single weight is in an editable CSV — Glencore can change the balance whenever they want without touching code. I'll hand to [Speaker 2] for the case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2, 2 min] Concrete case study. Suppose an analyst gets a request to onboard a new cobalt supplier from the DRC. They open the tool, filter to Cobalt — DRC — Mining. Immediately three things happen. First, the CAHRA flag fires, automatically pushing this supplier from Tier 1 to Tier 2 of Glencore's SCDD procedure — that's non-discretionary. Second, the ranked table shows three Critical risks: tailings, soil pollution, and biodiversity loss. Each is audit-able — tailings comes from the Global Tailings Portal, soil pollution from ISRIC SoilGrids — DRC has highly acidic tropical soils that mobilize heavy metals — and biodiversity from IUCN Red List counts. Third, and this is the most operationally useful part: the Risk Library tab pre-loads the SAQ KPIs the analyst should ask the supplier — GISTM conformance, seepage rate in liters per day, heavy-metal soil concentrations. It also surfaces the likely supplier-type categories: earth moving, hazardous-chemical supplier, waste disposal. This collapses what was a multi-day desk-research exercise into about 10 minutes — and every number is auditable.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2, 1 min] The tool sits cleanly inside Glencore's existing SCDD workflow. Their procedure follows the OECD's five-step framework and breaks operational engagement into four tiers. Tier 1 is open-source desktop research — that's what we automate. Tier 2 is the supplier questionnaire — our Risk Library tab pre-populates the questions for that. Tier 3 is the onsite visit — our Critical-bucket rows tell the assessor where to focus. Tier 4 is the corrective action plan — our KPIs become CAP milestones. The point is: nothing in Glencore's existing process changes. The tool just makes the first three tiers faster and more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[Speaker 1 closing, 30 sec] To wrap: the tool is on a public GitHub repo, deployed to a permanent Streamlit URL, ships with an 18-sheet Excel companion for analysts who don't want to run a web tool, and comes with a Docker container plus a written handover playbook for Glencore's IT team. Everything is editable in CSVs — no code skills required. We aimed to build something that survives the handover and stays useful as the geopolitical and energy-transition context keeps evolving.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ENVIRONMENTAL RISK IDENTIFICATION &amp; ASSESSMENT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112471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For Glencore's Group Responsible Sourcing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0" i="1">
                <a:solidFill>
                  <a:srgbClr val="E0F2F1"/>
                </a:solidFill>
                <a:latin typeface="Calibri"/>
              </a:rPr>
              <a:t>A geopolitics-of-energy lens on critical-mineral supply chains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E0F2F1"/>
                </a:solidFill>
                <a:latin typeface="Calibri"/>
              </a:rPr>
              <a:t>NYU School of Professional Studies  |  MS Global Affairs  |  Spring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1">
                <a:solidFill>
                  <a:srgbClr val="E0F2F1"/>
                </a:solidFill>
                <a:latin typeface="Calibri"/>
              </a:rPr>
              <a:t>Marielle Markovitz · Maahi Gupta · Daniela Cano · Daniel Luis de Jesus · Lindsay Huba-Zhang · Zorana Ivanovich · Mohamad Rimawi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005F73"/>
                </a:solidFill>
                <a:latin typeface="Calibri"/>
              </a:rPr>
              <a:t>Scope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What Glencore asked for · How we framed our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05F73"/>
                </a:solidFill>
                <a:latin typeface="Calibri"/>
              </a:rPr>
              <a:t>Mandate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• A pivot-style decision tool for Glencore's Group Responsible Sourcing team to support OECD-aligned Tier 1 due diligence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Cover the value chain end-to-end: mining → refining → smelting → recycling → marketing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Quantify outward environmental risks (penalties, fines, reputation) — not climate-on-company risks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Prioritise: water, waste, tailings, biodiversity, noise, air, soil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Editable by non-technical analysts — Excel/Sheets-friendly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Built on free, audit-able public data only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05F73"/>
                </a:solidFill>
                <a:latin typeface="Calibri"/>
              </a:rPr>
              <a:t>Frameworks aligned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• OECD Due Diligence Guidance for Responsible Supply Chains of Minerals (3rd ed., 2016)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Glencore SCDD Procedure — Metals &amp; Minerals (2024) — automates Step 2A (Supplier/product scoping) and 2B/2C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EU CSRD + CSDDD reporting expectations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RMI Supply Chain Due Diligence Plus Module (April 2025)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ENCORE materiality + IFC EHS Guidelines for process-level intensity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Sources: OECD DDG (oecd.org/daf/inv/mne/mining.htm); Glencore SCDD Procedure for Metals &amp; Minerals; RMI (responsiblemineralsinitiative.org).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Glencore Environmental Risk Tool — NYU SPS MS Global Affairs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005F73"/>
                </a:solidFill>
                <a:latin typeface="Calibri"/>
              </a:rPr>
              <a:t>Why this matters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The energy transition is mineral-intensive — and supply is concentrated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834640" cy="1828800"/>
          </a:xfrm>
          <a:prstGeom prst="rect">
            <a:avLst/>
          </a:prstGeom>
          <a:solidFill>
            <a:srgbClr val="00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4–6×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2834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IEA: critical-mineral demand growth by 2040 under net-zero scenarios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417320"/>
            <a:ext cx="2834640" cy="18288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600200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74%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468880"/>
            <a:ext cx="2834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Cobalt — DRC share of 2023 global production (USGS MCS 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417320"/>
            <a:ext cx="2834640" cy="18288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00200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48%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468880"/>
            <a:ext cx="2834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Nickel — Indonesia share of 2023 global production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417320"/>
            <a:ext cx="2834640" cy="1828800"/>
          </a:xfrm>
          <a:prstGeom prst="rect">
            <a:avLst/>
          </a:prstGeom>
          <a:solidFill>
            <a:srgbClr val="005F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600200"/>
            <a:ext cx="28346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468880"/>
            <a:ext cx="28346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Platinum — South Africa share of 2023 global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204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05F73"/>
                </a:solidFill>
                <a:latin typeface="Calibri"/>
              </a:rPr>
              <a:t>Two trends collide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319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• (a) The energy transition runs through critical minerals.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Cobalt + nickel for batteries · copper for grid · REEs for wind turbines · platinum for fuel cells. The IEA estimates 4–6× demand growth by 2040.</a:t>
            </a:r>
          </a:p>
          <a:p>
            <a:pPr algn="l">
              <a:lnSpc>
                <a:spcPct val="118000"/>
              </a:lnSpc>
            </a:pPr>
            <a:r>
              <a:rPr sz="1200" b="1">
                <a:solidFill>
                  <a:srgbClr val="1A1A1A"/>
                </a:solidFill>
                <a:latin typeface="Calibri"/>
              </a:rPr>
              <a:t>• (b) Production is concentrated — and concentration overlaps with high-risk jurisdictions.</a:t>
            </a:r>
          </a:p>
          <a:p>
            <a:pPr algn="l">
              <a:lnSpc>
                <a:spcPct val="118000"/>
              </a:lnSpc>
            </a:pPr>
            <a:r>
              <a:rPr sz="1200" b="0">
                <a:solidFill>
                  <a:srgbClr val="1A1A1A"/>
                </a:solidFill>
                <a:latin typeface="Calibri"/>
              </a:rPr>
              <a:t>• The US 2022 Critical Minerals List, the EU Critical Raw Materials Act (2024), and the IRA all flag the same supply-concentration risk. For an operator like Glencore, that is the operational reality, not an abstraction.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Sources: IEA Critical Minerals Outlook 2024 (iea.org); USGS Mineral Commodity Summaries 2024 (pubs.usgs.gov/periodicals/mcs2024); USGS 2022 Critical Minerals List; EU Critical Raw Materials Act 2024.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Glencore Environmental Risk Tool — NYU SPS MS Global Affairs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005F73"/>
                </a:solidFill>
                <a:latin typeface="Calibri"/>
              </a:rPr>
              <a:t>The CAHRA × Critical Minerals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Where the energy transition's supply chain meets Glencore's high-risk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94560" cy="384048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Commodity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371600"/>
            <a:ext cx="2743200" cy="384048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60" y="1371600"/>
            <a:ext cx="27432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Top producer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394960" y="1371600"/>
            <a:ext cx="1828800" cy="384048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1371600"/>
            <a:ext cx="18288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Share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371600"/>
            <a:ext cx="2560320" cy="384048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371600"/>
            <a:ext cx="25603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CAHRA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784080" y="1371600"/>
            <a:ext cx="1645920" cy="384048"/>
          </a:xfrm>
          <a:prstGeom prst="rect">
            <a:avLst/>
          </a:prstGeom>
          <a:solidFill>
            <a:srgbClr val="005F73"/>
          </a:solidFill>
          <a:ln>
            <a:solidFill>
              <a:srgbClr val="005F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371600"/>
            <a:ext cx="16459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Critical?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755648"/>
            <a:ext cx="219456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1755648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Cobalt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1755648"/>
            <a:ext cx="274320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51760" y="1755648"/>
            <a:ext cx="27432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DRC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1755648"/>
            <a:ext cx="182880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1755648"/>
            <a:ext cx="18288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74%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755648"/>
            <a:ext cx="256032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0" y="1755648"/>
            <a:ext cx="25603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All regions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755648"/>
            <a:ext cx="164592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0" y="1755648"/>
            <a:ext cx="16459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139696"/>
            <a:ext cx="2194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139696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Nickel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139696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2139696"/>
            <a:ext cx="27432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Indonesia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2139696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94960" y="2139696"/>
            <a:ext cx="18288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48%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60" y="2139696"/>
            <a:ext cx="2560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139696"/>
            <a:ext cx="25603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All regions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84080" y="2139696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0" y="2139696"/>
            <a:ext cx="16459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Yes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2523744"/>
            <a:ext cx="219456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2523744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Platinum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2523744"/>
            <a:ext cx="274320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0" y="2523744"/>
            <a:ext cx="27432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South Africa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94960" y="2523744"/>
            <a:ext cx="182880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4960" y="2523744"/>
            <a:ext cx="18288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72%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2523744"/>
            <a:ext cx="256032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23760" y="2523744"/>
            <a:ext cx="25603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84080" y="2523744"/>
            <a:ext cx="164592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84080" y="2523744"/>
            <a:ext cx="16459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Yes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2907792"/>
            <a:ext cx="2194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2907792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Manganese alloys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651760" y="2907792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1760" y="2907792"/>
            <a:ext cx="27432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South Africa / Gabon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94960" y="2907792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0" y="2907792"/>
            <a:ext cx="18288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36% + 23%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23760" y="2907792"/>
            <a:ext cx="2560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23760" y="2907792"/>
            <a:ext cx="25603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84080" y="2907792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84080" y="2907792"/>
            <a:ext cx="16459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Yes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291840"/>
            <a:ext cx="219456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3291840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Ferrochrome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51760" y="3291840"/>
            <a:ext cx="274320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51760" y="3291840"/>
            <a:ext cx="27432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South Africa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394960" y="3291840"/>
            <a:ext cx="182880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394960" y="3291840"/>
            <a:ext cx="18288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44%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223760" y="3291840"/>
            <a:ext cx="256032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23760" y="3291840"/>
            <a:ext cx="25603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84080" y="3291840"/>
            <a:ext cx="164592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84080" y="3291840"/>
            <a:ext cx="16459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Yes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675888"/>
            <a:ext cx="2194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" y="3675888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Aluminum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651760" y="3675888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651760" y="3675888"/>
            <a:ext cx="27432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China (smelting)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94960" y="3675888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394960" y="3675888"/>
            <a:ext cx="18288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59%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23760" y="3675888"/>
            <a:ext cx="2560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23760" y="3675888"/>
            <a:ext cx="25603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Xinjiang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784080" y="3675888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784080" y="3675888"/>
            <a:ext cx="16459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Yes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4059936"/>
            <a:ext cx="219456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4059936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Zinc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51760" y="4059936"/>
            <a:ext cx="274320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51760" y="4059936"/>
            <a:ext cx="27432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China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394960" y="4059936"/>
            <a:ext cx="182880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94960" y="4059936"/>
            <a:ext cx="18288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33%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223760" y="4059936"/>
            <a:ext cx="256032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223760" y="4059936"/>
            <a:ext cx="25603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Xinjiang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784080" y="4059936"/>
            <a:ext cx="1645920" cy="384048"/>
          </a:xfrm>
          <a:prstGeom prst="rect">
            <a:avLst/>
          </a:prstGeom>
          <a:solidFill>
            <a:srgbClr val="E0F2F1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784080" y="4059936"/>
            <a:ext cx="16459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Yes</a:t>
            </a:r>
          </a:p>
        </p:txBody>
      </p:sp>
      <p:sp>
        <p:nvSpPr>
          <p:cNvPr id="85" name="Rectangle 84"/>
          <p:cNvSpPr/>
          <p:nvPr/>
        </p:nvSpPr>
        <p:spPr>
          <a:xfrm>
            <a:off x="457200" y="4443984"/>
            <a:ext cx="219456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57200" y="4443984"/>
            <a:ext cx="219456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Copper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651760" y="4443984"/>
            <a:ext cx="27432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651760" y="4443984"/>
            <a:ext cx="27432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Chile / Peru / DRC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5394960" y="4443984"/>
            <a:ext cx="182880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394960" y="4443984"/>
            <a:ext cx="182880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23 + 10 + 13%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223760" y="4443984"/>
            <a:ext cx="25603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223760" y="4443984"/>
            <a:ext cx="25603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DRC: All regions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784080" y="4443984"/>
            <a:ext cx="1645920" cy="384048"/>
          </a:xfrm>
          <a:prstGeom prst="rect">
            <a:avLst/>
          </a:prstGeom>
          <a:solidFill>
            <a:srgbClr val="FFFFFF"/>
          </a:solidFill>
          <a:ln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784080" y="4443984"/>
            <a:ext cx="1645920" cy="38404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200" b="0" i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4937760"/>
            <a:ext cx="11247120" cy="91440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Of the 8 USGS-Critical Minerals in Glencore's portfolio, every single one has a top-3 producer that touches the CAHRA list. The energy transition cannot be decoupled from high-risk jurisdictions — managing environmental risk in those countries is non-optional.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Sources: USGS MCS 2024; USGS 2022 Critical Minerals List (usgs.gov/news/national-news-release/us-geological-survey-releases-2022-list-critical-minerals); Glencore CAHRA List 2025 (updated 27.02.2025).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Glencore Environmental Risk Tool — NYU SPS MS Global Affairs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005F73"/>
                </a:solidFill>
                <a:latin typeface="Calibri"/>
              </a:rPr>
              <a:t>The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Pivot-style filter → ranked risks · Likelihood × Severity heatmap · drill-down audit trail</a:t>
            </a:r>
          </a:p>
        </p:txBody>
      </p:sp>
      <p:pic>
        <p:nvPicPr>
          <p:cNvPr id="5" name="Picture 4" descr="01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73152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280160"/>
            <a:ext cx="4480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1" i="0">
                <a:solidFill>
                  <a:srgbClr val="005F73"/>
                </a:solidFill>
                <a:latin typeface="Calibri"/>
              </a:rPr>
              <a:t>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691640"/>
            <a:ext cx="4480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Filters: commodity, country, process, risk type — top producers surfaced first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8 priority risks (15 total) scored as Likelihood × Severity = Overall (1–25)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Bucketed Low / Moderate / High / Critical with consistent palette across the table, heatmap, choropleth, and Excel companion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Drill-down panel exposes raw indicator + source URL for every score → auditable for CSRD / CSDDD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8 tabs: Dashboard · Map · Comparative Analysis · Risk Library · SCDD Tiers · User Guide · Methodology · 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035040"/>
            <a:ext cx="112471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Live tool: streamlit.app  ·  Repo: github.com/mnmarkovitz/glencore_enviro_risk_tool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Glencore Environmental Risk Tool — NYU SPS MS Global Affairs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005F73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Reproducible scoring from public datasets · No analyst gut-feel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772400" cy="2286000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7406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005F73"/>
                </a:solidFill>
                <a:latin typeface="Calibri"/>
              </a:rPr>
              <a:t>Two formulas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7406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onsolas"/>
              </a:rPr>
              <a:t>Likelihood = 0.4 × Process Intrinsic + 0.6 × Country Hazard    →   1–5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7406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onsolas"/>
              </a:rPr>
              <a:t>Severity   = 0.5 × Ecological Sensitivity + 0.5 × Regulatory Strict.   →   1–5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74066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onsolas"/>
              </a:rPr>
              <a:t>Overall    = Likelihood × Severity              →   1–25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46120"/>
            <a:ext cx="7406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1">
                <a:solidFill>
                  <a:srgbClr val="555555"/>
                </a:solidFill>
                <a:latin typeface="Calibri"/>
              </a:rPr>
              <a:t>Buckets: 1–4 Low · 5–9 Moderate · 10–14 High · 15–25 Critical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371600"/>
            <a:ext cx="777240" cy="320040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0" y="1371600"/>
            <a:ext cx="7772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1371600"/>
            <a:ext cx="777240" cy="320040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371600"/>
            <a:ext cx="7772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Moderate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1371600"/>
            <a:ext cx="777240" cy="320040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49840" y="1371600"/>
            <a:ext cx="7772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0" y="1371600"/>
            <a:ext cx="777240" cy="32004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0" y="1371600"/>
            <a:ext cx="777240" cy="320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Critical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005F73"/>
                </a:solidFill>
                <a:latin typeface="Calibri"/>
              </a:rPr>
              <a:t>Why country weight &gt; process weight (0.6 vs 0.4)?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97680"/>
            <a:ext cx="112471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200" b="0" i="0">
                <a:solidFill>
                  <a:srgbClr val="1A1A1A"/>
                </a:solidFill>
                <a:latin typeface="Calibri"/>
              </a:rPr>
              <a:t>Process determines whether a risk is possible at all (no tailings in trading), but country context determines whether a capable process actually causes harm. Two copper mines — Chile's Atacama and Zambia's Copperbelt — have the same Process Intrinsic score for water depletion (5), but very different realized risk: Aqueduct rates Atacama 5 (Extremely High) vs Zambia 2.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005F73"/>
                </a:solidFill>
                <a:latin typeface="Calibri"/>
              </a:rPr>
              <a:t>Public datasets feeding the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32120"/>
            <a:ext cx="112471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WRI Aqueduct · Yale EPI 2024 · WHO PM2.5 DB · IUCN Red List · WDPA · Global Forest Watch · Global Tailings Portal · USGS MRDS · USGS Critical Minerals Atlas · Global Energy Monitor · ISRIC SoilGrids · World Bank WGI · INFORM Risk · Glencore CAHRA List 2025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All weights and bucket thresholds editable in scoring_weights.csv. Full methodology: github.com/mnmarkovitz/glencore_enviro_risk_tool/blob/main/docs/METHODOLOGY.md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Glencore Environmental Risk Tool — NYU SPS MS Global Affairs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005F73"/>
                </a:solidFill>
                <a:latin typeface="Calibri"/>
              </a:rPr>
              <a:t>Case study — DRC × Cobalt × Mining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How a Glencore Responsible Sourcing analyst uses the tool in practice</a:t>
            </a:r>
          </a:p>
        </p:txBody>
      </p:sp>
      <p:pic>
        <p:nvPicPr>
          <p:cNvPr id="5" name="Picture 4" descr="02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4655127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5262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005F73"/>
                </a:solidFill>
                <a:latin typeface="Calibri"/>
              </a:rPr>
              <a:t>What the tool surfaces (filter: Cobalt + DRC + Mining)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892040"/>
            <a:ext cx="5486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🚩 CAHRA flag (All regions) → automatic Tier 1 → Tier 2 escalation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Tailings — Critical (TSF count + GISTM consequence class)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Soil pollution — Critical (acidic Oxisols + EPI Heavy Metals)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Biodiversity loss — Critical (590 IUCN-listed species; high deforestation)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89204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Each row's drill-down shows raw + normalized scores with source URL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Risk Library tab pre-loads SAQ KPIs (e.g. tailings GISTM conformance %, seepage rate) → directly into Glencore's Step 2B questionnaire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Likely supplier types ranked: Earth moving · Hazardous chemicals · Waste disposal — narrows the SAQ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Sources: USGS MCS 2024; Glencore CAHRA List 2025; ISRIC SoilGrids 2.0; Yale EPI 2024; IUCN Red List API; Global Forest Watch.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Glencore Environmental Risk Tool — NYU SPS MS Global Affairs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005F73"/>
                </a:solidFill>
                <a:latin typeface="Calibri"/>
              </a:rPr>
              <a:t>Where this fits — Glencore's SCDD Tiers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Tool automates Tier 1, scopes Tier 2, accelerates Tiers 3–4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371600" cy="1078992"/>
          </a:xfrm>
          <a:prstGeom prst="rect">
            <a:avLst/>
          </a:prstGeom>
          <a:solidFill>
            <a:srgbClr val="4CA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371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AUTOMATED by tool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20" y="1325880"/>
            <a:ext cx="10149840" cy="1078992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37160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005F73"/>
                </a:solidFill>
                <a:latin typeface="Calibri"/>
              </a:rPr>
              <a:t>OSDR — desktop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371600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1">
                <a:solidFill>
                  <a:srgbClr val="555555"/>
                </a:solidFill>
                <a:latin typeface="Calibri"/>
              </a:rPr>
              <a:t>Step 2A: scoping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737360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Public data: Aqueduct, EPI, IUCN, WDPA, GTP, SoilGrids, GEM, USGS MRDS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78024"/>
            <a:ext cx="1371600" cy="1078992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478024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35224"/>
            <a:ext cx="1371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Tool scopes the SAQ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20" y="2478024"/>
            <a:ext cx="1014984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2523744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005F73"/>
                </a:solidFill>
                <a:latin typeface="Calibri"/>
              </a:rPr>
              <a:t>SAQ — Supplier Questionnaire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523744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1">
                <a:solidFill>
                  <a:srgbClr val="555555"/>
                </a:solidFill>
                <a:latin typeface="Calibri"/>
              </a:rPr>
              <a:t>Step 2B &amp; 2C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889504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Tool's Risk Library + KPI list → directly into the SAQ template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30168"/>
            <a:ext cx="1371600" cy="1078992"/>
          </a:xfrm>
          <a:prstGeom prst="rect">
            <a:avLst/>
          </a:prstGeom>
          <a:solidFill>
            <a:srgbClr val="FF9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630168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87368"/>
            <a:ext cx="1371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Tool ranks priorities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74520" y="3630168"/>
            <a:ext cx="10149840" cy="1078992"/>
          </a:xfrm>
          <a:prstGeom prst="rect">
            <a:avLst/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11680" y="36758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005F73"/>
                </a:solidFill>
                <a:latin typeface="Calibri"/>
              </a:rPr>
              <a:t>Onsite / OGA — On-the-ground assessment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675888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1">
                <a:solidFill>
                  <a:srgbClr val="555555"/>
                </a:solidFill>
                <a:latin typeface="Calibri"/>
              </a:rPr>
              <a:t>Step 3.1.5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041648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Critical-bucket rows define the onsite agenda; sampling priorities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782312"/>
            <a:ext cx="1371600" cy="1078992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782312"/>
            <a:ext cx="1371600" cy="4114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Tier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239512"/>
            <a:ext cx="1371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000" b="0" i="1">
                <a:solidFill>
                  <a:srgbClr val="FFFFFF"/>
                </a:solidFill>
                <a:latin typeface="Calibri"/>
              </a:rPr>
              <a:t>Tool identifies milestones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74520" y="4782312"/>
            <a:ext cx="1014984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11680" y="4828032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005F73"/>
                </a:solidFill>
                <a:latin typeface="Calibri"/>
              </a:rPr>
              <a:t>CAP — Corrective Action Plan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0" y="4828032"/>
            <a:ext cx="2834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 i="1">
                <a:solidFill>
                  <a:srgbClr val="555555"/>
                </a:solidFill>
                <a:latin typeface="Calibri"/>
              </a:rPr>
              <a:t>Step 3.1.7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11680" y="5193792"/>
            <a:ext cx="978408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100" b="0" i="0">
                <a:solidFill>
                  <a:srgbClr val="1A1A1A"/>
                </a:solidFill>
                <a:latin typeface="Calibri"/>
              </a:rPr>
              <a:t>KPIs become CAP milestones; ongoing monitoring tracks improvement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893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Sources: Glencore SCDD Procedure for Metals &amp; Minerals (2024); OECD DDG (3rd ed.); RMI Supply Chain DD Plus Module (April 2025).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Glencore Environmental Risk Tool — NYU SPS MS Global Affairs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A9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600" b="1" i="0">
                <a:solidFill>
                  <a:srgbClr val="005F73"/>
                </a:solidFill>
                <a:latin typeface="Calibri"/>
              </a:rPr>
              <a:t>Status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Handover-ready · public repo · permanent Streamlit URL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5F73"/>
                </a:solidFill>
                <a:latin typeface="Calibri"/>
              </a:rPr>
              <a:t>What's shipping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486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Public repo — github.com/mnmarkovitz/glencore_enviro_risk_tool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Live Streamlit app — public URL via Streamlit Community Cloud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18-sheet Excel companion (Quick_Reference.xlsx) for offline analysts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Full handover playbook for Glencore IT (Dockerfile + docs/HANDOVER.md)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.gitignore protects confidential supplier CSV from public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1" i="0">
                <a:solidFill>
                  <a:srgbClr val="005F73"/>
                </a:solidFill>
                <a:latin typeface="Calibri"/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Glencore swaps in their counterparty database for the supplier layer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Sub-national CAHRA region resolution (Aqueduct already at province level)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Live Aqueduct API for water-pollution UCW + CEP indicators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Translate scoring engine into Power BI / DAX for Glencore BI stack</a:t>
            </a:r>
          </a:p>
          <a:p>
            <a:pPr algn="l">
              <a:lnSpc>
                <a:spcPct val="118000"/>
              </a:lnSpc>
            </a:pPr>
            <a:r>
              <a:rPr sz="1100" b="0">
                <a:solidFill>
                  <a:srgbClr val="1A1A1A"/>
                </a:solidFill>
                <a:latin typeface="Calibri"/>
              </a:rPr>
              <a:t>• Annual data refresh cycle with automated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400" b="1" i="0">
                <a:solidFill>
                  <a:srgbClr val="005F73"/>
                </a:solidFill>
                <a:latin typeface="Calibri"/>
              </a:rPr>
              <a:t>Selected 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1A1A1A"/>
                </a:solidFill>
                <a:latin typeface="Calibri"/>
              </a:rPr>
              <a:t>• OECD (2016). Due Diligence Guidance for Responsible Supply Chains of Minerals from Conflict-Affected and High-Risk Areas, 3rd ed. oecd.org/daf/inv/mne/mining.htm</a:t>
            </a:r>
          </a:p>
          <a:p>
            <a:pPr algn="l">
              <a:lnSpc>
                <a:spcPct val="118000"/>
              </a:lnSpc>
            </a:pPr>
            <a:r>
              <a:rPr sz="950" b="0">
                <a:solidFill>
                  <a:srgbClr val="1A1A1A"/>
                </a:solidFill>
                <a:latin typeface="Calibri"/>
              </a:rPr>
              <a:t>• IEA (2024). Global Critical Minerals Outlook 2024. iea.org</a:t>
            </a:r>
          </a:p>
          <a:p>
            <a:pPr algn="l">
              <a:lnSpc>
                <a:spcPct val="118000"/>
              </a:lnSpc>
            </a:pPr>
            <a:r>
              <a:rPr sz="950" b="0">
                <a:solidFill>
                  <a:srgbClr val="1A1A1A"/>
                </a:solidFill>
                <a:latin typeface="Calibri"/>
              </a:rPr>
              <a:t>• USGS (2024). Mineral Commodity Summaries 2024. pubs.usgs.gov/periodicals/mcs2024</a:t>
            </a:r>
          </a:p>
          <a:p>
            <a:pPr algn="l">
              <a:lnSpc>
                <a:spcPct val="118000"/>
              </a:lnSpc>
            </a:pPr>
            <a:r>
              <a:rPr sz="950" b="0">
                <a:solidFill>
                  <a:srgbClr val="1A1A1A"/>
                </a:solidFill>
                <a:latin typeface="Calibri"/>
              </a:rPr>
              <a:t>• USGS (2022). 2022 List of Critical Minerals. usgs.gov/news/national-news-release/us-geological-survey-releases-2022-list-critical-minerals</a:t>
            </a:r>
          </a:p>
          <a:p>
            <a:pPr algn="l">
              <a:lnSpc>
                <a:spcPct val="118000"/>
              </a:lnSpc>
            </a:pPr>
            <a:r>
              <a:rPr sz="950" b="0">
                <a:solidFill>
                  <a:srgbClr val="1A1A1A"/>
                </a:solidFill>
                <a:latin typeface="Calibri"/>
              </a:rPr>
              <a:t>• Glencore (2024). Supply Chain Due Diligence Procedure — Metals and Minerals.</a:t>
            </a:r>
          </a:p>
          <a:p>
            <a:pPr algn="l">
              <a:lnSpc>
                <a:spcPct val="118000"/>
              </a:lnSpc>
            </a:pPr>
            <a:r>
              <a:rPr sz="950" b="0">
                <a:solidFill>
                  <a:srgbClr val="1A1A1A"/>
                </a:solidFill>
                <a:latin typeface="Calibri"/>
              </a:rPr>
              <a:t>• Glencore (2025). CAHRA List 2025 (updated 27.02.2025).</a:t>
            </a:r>
          </a:p>
          <a:p>
            <a:pPr algn="l">
              <a:lnSpc>
                <a:spcPct val="118000"/>
              </a:lnSpc>
            </a:pPr>
            <a:r>
              <a:rPr sz="950" b="0">
                <a:solidFill>
                  <a:srgbClr val="1A1A1A"/>
                </a:solidFill>
                <a:latin typeface="Calibri"/>
              </a:rPr>
              <a:t>• Yale EPI 2024 · WRI Aqueduct 4.0 · WHO Ambient Air Quality DB · IUCN Red List · WDPA · ISRIC SoilGrids · Global Energy Monitor · Global Tailings Portal · ENCORE · IFC EHS Guidelines · INFORM Risk Index 2024.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Glencore Environmental Risk Tool — NYU SPS MS Global Affairs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46520"/>
            <a:ext cx="11887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